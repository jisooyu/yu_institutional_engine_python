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646582f3384127" /><Relationship Type="http://schemas.openxmlformats.org/officeDocument/2006/relationships/extended-properties" Target="/docProps/app.xml" Id="R5dcba8ee00d84f05" /><Relationship Type="http://schemas.openxmlformats.org/officeDocument/2006/relationships/officeDocument" Target="/ppt/presentation.xml" Id="R73d13efc6a2f4d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0f357b47914cea"/>
  </p:sldMasterIdLst>
  <p:notesMasterIdLst>
    <p:notesMasterId xmlns:r="http://schemas.openxmlformats.org/officeDocument/2006/relationships" r:id="Rc40e3e1ec2eb46e8"/>
  </p:notesMasterIdLst>
  <p:sldIdLst>
    <p:sldId xmlns:r="http://schemas.openxmlformats.org/officeDocument/2006/relationships" id="256" r:id="R71d6723187924c14"/>
    <p:sldId xmlns:r="http://schemas.openxmlformats.org/officeDocument/2006/relationships" id="257" r:id="R804c503faf064d6b"/>
    <p:sldId xmlns:r="http://schemas.openxmlformats.org/officeDocument/2006/relationships" id="258" r:id="Rae88e2829b054817"/>
    <p:sldId xmlns:r="http://schemas.openxmlformats.org/officeDocument/2006/relationships" id="259" r:id="R018aef0c9def4a39"/>
    <p:sldId xmlns:r="http://schemas.openxmlformats.org/officeDocument/2006/relationships" id="260" r:id="Rd6f59e2feb344da8"/>
    <p:sldId xmlns:r="http://schemas.openxmlformats.org/officeDocument/2006/relationships" id="261" r:id="Rcbb8f3f4d39d471d"/>
    <p:sldId xmlns:r="http://schemas.openxmlformats.org/officeDocument/2006/relationships" id="262" r:id="R6c077c3cf83b4aff"/>
    <p:sldId xmlns:r="http://schemas.openxmlformats.org/officeDocument/2006/relationships" id="263" r:id="Rdbdb0aedb3aa4eb0"/>
    <p:sldId xmlns:r="http://schemas.openxmlformats.org/officeDocument/2006/relationships" id="264" r:id="R8f4240ad085d4652"/>
    <p:sldId xmlns:r="http://schemas.openxmlformats.org/officeDocument/2006/relationships" id="265" r:id="R9b63034ed62b4b11"/>
    <p:sldId xmlns:r="http://schemas.openxmlformats.org/officeDocument/2006/relationships" id="266" r:id="R46521871e9474685"/>
    <p:sldId xmlns:r="http://schemas.openxmlformats.org/officeDocument/2006/relationships" id="267" r:id="Raef4acf47f4d45bb"/>
    <p:sldId xmlns:r="http://schemas.openxmlformats.org/officeDocument/2006/relationships" id="268" r:id="R5b2f91c475bd4f7f"/>
    <p:sldId xmlns:r="http://schemas.openxmlformats.org/officeDocument/2006/relationships" id="269" r:id="Re770be72adab4400"/>
    <p:sldId xmlns:r="http://schemas.openxmlformats.org/officeDocument/2006/relationships" id="270" r:id="R2eb7196f57954580"/>
    <p:sldId xmlns:r="http://schemas.openxmlformats.org/officeDocument/2006/relationships" id="271" r:id="R5389818459b441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ffedadde3448cd" /><Relationship Type="http://schemas.openxmlformats.org/officeDocument/2006/relationships/slideMaster" Target="/ppt/slideMasters/slideMaster1.xml" Id="Rf90f357b47914cea" /><Relationship Type="http://schemas.openxmlformats.org/officeDocument/2006/relationships/notesMaster" Target="/ppt/notesMasters/notesMaster1.xml" Id="Rc40e3e1ec2eb46e8" /><Relationship Type="http://schemas.openxmlformats.org/officeDocument/2006/relationships/presProps" Target="/ppt/presProps.xml" Id="R9f8ba5d848e244bb" /><Relationship Type="http://schemas.openxmlformats.org/officeDocument/2006/relationships/tableStyles" Target="/ppt/tableStyles.xml" Id="Rc85e7f345fea47ac" /><Relationship Type="http://schemas.openxmlformats.org/officeDocument/2006/relationships/slide" Target="/ppt/slides/slide1.xml" Id="R71d6723187924c14" /><Relationship Type="http://schemas.openxmlformats.org/officeDocument/2006/relationships/slide" Target="/ppt/slides/slide2.xml" Id="R804c503faf064d6b" /><Relationship Type="http://schemas.openxmlformats.org/officeDocument/2006/relationships/slide" Target="/ppt/slides/slide3.xml" Id="Rae88e2829b054817" /><Relationship Type="http://schemas.openxmlformats.org/officeDocument/2006/relationships/slide" Target="/ppt/slides/slide4.xml" Id="R018aef0c9def4a39" /><Relationship Type="http://schemas.openxmlformats.org/officeDocument/2006/relationships/slide" Target="/ppt/slides/slide5.xml" Id="Rd6f59e2feb344da8" /><Relationship Type="http://schemas.openxmlformats.org/officeDocument/2006/relationships/slide" Target="/ppt/slides/slide6.xml" Id="Rcbb8f3f4d39d471d" /><Relationship Type="http://schemas.openxmlformats.org/officeDocument/2006/relationships/slide" Target="/ppt/slides/slide7.xml" Id="R6c077c3cf83b4aff" /><Relationship Type="http://schemas.openxmlformats.org/officeDocument/2006/relationships/slide" Target="/ppt/slides/slide8.xml" Id="Rdbdb0aedb3aa4eb0" /><Relationship Type="http://schemas.openxmlformats.org/officeDocument/2006/relationships/slide" Target="/ppt/slides/slide9.xml" Id="R8f4240ad085d4652" /><Relationship Type="http://schemas.openxmlformats.org/officeDocument/2006/relationships/slide" Target="/ppt/slides/slide10.xml" Id="R9b63034ed62b4b11" /><Relationship Type="http://schemas.openxmlformats.org/officeDocument/2006/relationships/slide" Target="/ppt/slides/slide11.xml" Id="R46521871e9474685" /><Relationship Type="http://schemas.openxmlformats.org/officeDocument/2006/relationships/slide" Target="/ppt/slides/slide12.xml" Id="Raef4acf47f4d45bb" /><Relationship Type="http://schemas.openxmlformats.org/officeDocument/2006/relationships/slide" Target="/ppt/slides/slide13.xml" Id="R5b2f91c475bd4f7f" /><Relationship Type="http://schemas.openxmlformats.org/officeDocument/2006/relationships/slide" Target="/ppt/slides/slide14.xml" Id="Re770be72adab4400" /><Relationship Type="http://schemas.openxmlformats.org/officeDocument/2006/relationships/slide" Target="/ppt/slides/slide15.xml" Id="R2eb7196f57954580" /><Relationship Type="http://schemas.openxmlformats.org/officeDocument/2006/relationships/slide" Target="/ppt/slides/slide16.xml" Id="R5389818459b441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489c57d17c4a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738b7e7eae4e85" /><Relationship Type="http://schemas.openxmlformats.org/officeDocument/2006/relationships/notesMaster" Target="/ppt/notesMasters/notesMaster1.xml" Id="Rbc892d2208fe4c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554679a1694f6b" /><Relationship Type="http://schemas.openxmlformats.org/officeDocument/2006/relationships/notesMaster" Target="/ppt/notesMasters/notesMaster1.xml" Id="R2ed067bb1c1f48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f259a3f85842d3" /><Relationship Type="http://schemas.openxmlformats.org/officeDocument/2006/relationships/notesMaster" Target="/ppt/notesMasters/notesMaster1.xml" Id="R0f4e312d502542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84ba0e99124ee0" /><Relationship Type="http://schemas.openxmlformats.org/officeDocument/2006/relationships/notesMaster" Target="/ppt/notesMasters/notesMaster1.xml" Id="R3efdc548d27947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06fdcce63f40e4" /><Relationship Type="http://schemas.openxmlformats.org/officeDocument/2006/relationships/notesMaster" Target="/ppt/notesMasters/notesMaster1.xml" Id="Rd2fb66f19bba4c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a19ce08d664f24" /><Relationship Type="http://schemas.openxmlformats.org/officeDocument/2006/relationships/notesMaster" Target="/ppt/notesMasters/notesMaster1.xml" Id="R207072ac763346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3fe320c65d4389" /><Relationship Type="http://schemas.openxmlformats.org/officeDocument/2006/relationships/notesMaster" Target="/ppt/notesMasters/notesMaster1.xml" Id="R93d561e3181540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1bb392999848dc" /><Relationship Type="http://schemas.openxmlformats.org/officeDocument/2006/relationships/notesMaster" Target="/ppt/notesMasters/notesMaster1.xml" Id="R509d644b551f46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fae9c70d8b46af" /><Relationship Type="http://schemas.openxmlformats.org/officeDocument/2006/relationships/notesMaster" Target="/ppt/notesMasters/notesMaster1.xml" Id="Rfd0841830a1f42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54e98754cf457a" /><Relationship Type="http://schemas.openxmlformats.org/officeDocument/2006/relationships/notesMaster" Target="/ppt/notesMasters/notesMaster1.xml" Id="R3754e6e60d2d4d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945345a95f4191" /><Relationship Type="http://schemas.openxmlformats.org/officeDocument/2006/relationships/notesMaster" Target="/ppt/notesMasters/notesMaster1.xml" Id="R388cef83f5b646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3383423e054fda" /><Relationship Type="http://schemas.openxmlformats.org/officeDocument/2006/relationships/notesMaster" Target="/ppt/notesMasters/notesMaster1.xml" Id="R899ce5bab0fd447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ad21a436e74015" /><Relationship Type="http://schemas.openxmlformats.org/officeDocument/2006/relationships/notesMaster" Target="/ppt/notesMasters/notesMaster1.xml" Id="R1862b2b703e44a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a8f3e8dab164a1f" /><Relationship Type="http://schemas.openxmlformats.org/officeDocument/2006/relationships/notesMaster" Target="/ppt/notesMasters/notesMaster1.xml" Id="Rd6cd9c01590b4c3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0075ac8a6754f27" /><Relationship Type="http://schemas.openxmlformats.org/officeDocument/2006/relationships/notesMaster" Target="/ppt/notesMasters/notesMaster1.xml" Id="R718f4355658947a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ff39f8e8f4d435c" /><Relationship Type="http://schemas.openxmlformats.org/officeDocument/2006/relationships/notesMaster" Target="/ppt/notesMasters/notesMaster1.xml" Id="R8c54c286a24c45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e5d7e48eae48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59d715253943a2" /><Relationship Type="http://schemas.openxmlformats.org/officeDocument/2006/relationships/slideLayout" Target="/ppt/slideLayouts/slideLayout1.xml" Id="R982cd92887ec46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2cd92887ec46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0fde9d280414c" /><Relationship Type="http://schemas.openxmlformats.org/officeDocument/2006/relationships/notesSlide" Target="/ppt/notesSlides/notesSlide1.xml" Id="R7a8cf492f4834c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d962a47e94f87" /><Relationship Type="http://schemas.openxmlformats.org/officeDocument/2006/relationships/notesSlide" Target="/ppt/notesSlides/notesSlide2.xml" Id="R93ccc46dcc4c43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11583323c467b" /><Relationship Type="http://schemas.openxmlformats.org/officeDocument/2006/relationships/notesSlide" Target="/ppt/notesSlides/notesSlide3.xml" Id="Rcc741a1d241a4f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463f275024f42" /><Relationship Type="http://schemas.openxmlformats.org/officeDocument/2006/relationships/notesSlide" Target="/ppt/notesSlides/notesSlide4.xml" Id="R8b638a1c042a44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8a59fe4f04c14" /><Relationship Type="http://schemas.openxmlformats.org/officeDocument/2006/relationships/notesSlide" Target="/ppt/notesSlides/notesSlide5.xml" Id="Rc0fc130108b640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1261c5966479e" /><Relationship Type="http://schemas.openxmlformats.org/officeDocument/2006/relationships/notesSlide" Target="/ppt/notesSlides/notesSlide6.xml" Id="R9f833fb34f4747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f6d9c3f4e439d" /><Relationship Type="http://schemas.openxmlformats.org/officeDocument/2006/relationships/notesSlide" Target="/ppt/notesSlides/notesSlide7.xml" Id="Rd4e20486b25745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66132f89b476a" /><Relationship Type="http://schemas.openxmlformats.org/officeDocument/2006/relationships/notesSlide" Target="/ppt/notesSlides/notesSlide8.xml" Id="Rbe5769e4f0334d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4338f53c94fb0" /><Relationship Type="http://schemas.openxmlformats.org/officeDocument/2006/relationships/notesSlide" Target="/ppt/notesSlides/notesSlide9.xml" Id="Rc6cec6e6030c47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936bdb7154e95" /><Relationship Type="http://schemas.openxmlformats.org/officeDocument/2006/relationships/notesSlide" Target="/ppt/notesSlides/notesSlide10.xml" Id="R1adaa9b115244a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51afdc75d4366" /><Relationship Type="http://schemas.openxmlformats.org/officeDocument/2006/relationships/notesSlide" Target="/ppt/notesSlides/notesSlide11.xml" Id="Raf202976a48044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a8ca5cdbe421d" /><Relationship Type="http://schemas.openxmlformats.org/officeDocument/2006/relationships/notesSlide" Target="/ppt/notesSlides/notesSlide12.xml" Id="R301c2e6ce9094c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711fd4a614559" /><Relationship Type="http://schemas.openxmlformats.org/officeDocument/2006/relationships/notesSlide" Target="/ppt/notesSlides/notesSlide13.xml" Id="R4d3107bcd0c940e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6b3a0c3114f2c" /><Relationship Type="http://schemas.openxmlformats.org/officeDocument/2006/relationships/notesSlide" Target="/ppt/notesSlides/notesSlide14.xml" Id="R1435b9b6837340c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6aa41ff624167" /><Relationship Type="http://schemas.openxmlformats.org/officeDocument/2006/relationships/notesSlide" Target="/ppt/notesSlides/notesSlide15.xml" Id="R7b3c931e90d4469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56343baca4474" /><Relationship Type="http://schemas.openxmlformats.org/officeDocument/2006/relationships/notesSlide" Target="/ppt/notesSlides/notesSlide16.xml" Id="R778efaadfafd4c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0CCEE6-8467-4953-992B-55B896E3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E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92AFA-C74C-468A-9792-63BDC3D7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주식투자 분석 시스템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F498D-E5A1-4047-AF0E-119A1F0C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95425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FC6DD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AFC6DD"/>
                </a:solidFill>
                <a:latin typeface="Noto Sans KR"/>
                <a:ea typeface="Noto Sans KR"/>
                <a:cs typeface="Noto Sans KR"/>
              </a:rPr>
              <a:t>Macro에서 Trading까지, 5개 Python 프로젝트로 연결하는 투자 의사결정 흐름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45918-C27E-4EED-9963-947B909C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1866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945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DD6B2-A694-49F0-B631-C8395D12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82F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B82F6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955EA-A3C9-4248-9D9F-AE448E8D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시장환경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D386E-710A-4181-A3AE-5A807ADD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71850"/>
            <a:ext cx="2476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60CA2-BDC8-49FD-BC6A-8C15BF5A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1866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945"/>
          </a:solidFill>
          <a:ln xmlns:a="http://schemas.openxmlformats.org/drawingml/2006/main" w="9525">
            <a:solidFill>
              <a:srgbClr val="8B5CF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C1B13-23C3-4855-B37B-7E0C0CEC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289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5CF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35B2D-1476-4974-B7BF-7095115F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480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섹터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AAA18-34E2-4410-BBF1-2C38E337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71850"/>
            <a:ext cx="2476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79557-24A5-4845-B171-B4B78F8F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57500"/>
            <a:ext cx="1866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945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1C397D-1F1D-478E-9E5C-B4CD670F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289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9E0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FA65D-886D-40BD-9E64-105AFB44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480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빅테크 실적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85EDFD-2D1C-44DB-8AE1-82107FFD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71850"/>
            <a:ext cx="2476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7C9050-681D-4EAA-9C61-556C8ED7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57500"/>
            <a:ext cx="1866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945"/>
          </a:solidFill>
          <a:ln xmlns:a="http://schemas.openxmlformats.org/drawingml/2006/main" w="9525">
            <a:solidFill>
              <a:srgbClr val="23B26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02183F-512A-4E95-8007-2ED4EB41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289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95DFEF-201D-4082-9740-F419DB08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480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종목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6D98E8-364F-44E2-9E0E-51BDAAE1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71850"/>
            <a:ext cx="2476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CD01FD-B592-4A6F-8EAD-EAB2F196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57500"/>
            <a:ext cx="1866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945"/>
          </a:solidFill>
          <a:ln xmlns:a="http://schemas.openxmlformats.org/drawingml/2006/main" w="9525">
            <a:solidFill>
              <a:srgbClr val="EF5B5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6AC6FE-6987-4733-8647-B9EE53CE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289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5B5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EF5B5B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8E219E-B491-4893-AFB2-BC002C3D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480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매매 타이밍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1C40DE-C61E-4139-BF25-FF16353E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FA9C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8FA9C0"/>
                </a:solidFill>
                <a:latin typeface="Noto Sans KR"/>
                <a:ea typeface="Noto Sans KR"/>
                <a:cs typeface="Noto Sans KR"/>
              </a:rPr>
              <a:t>YouTube 강의용  |  Top-down + Bottom-up + Technical Analysis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0DD216-4AD3-47B7-B124-6106AF2C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C4E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EC4E6"/>
                </a:solidFill>
                <a:latin typeface="Noto Sans KR"/>
                <a:ea typeface="Noto Sans KR"/>
                <a:cs typeface="Noto Sans KR"/>
              </a:rPr>
              <a:t>slow_coding jisooyu</a:t>
            </a:r>
          </a:p>
        </p:txBody>
      </p:sp>
    </p:spTree>
    <p:extLst>
      <p:ext uri="{BB962C8B-B14F-4D97-AF65-F5344CB8AC3E}">
        <p14:creationId xmlns:p14="http://schemas.microsoft.com/office/powerpoint/2010/main" val="13767604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A80178-A413-4A73-9262-1B6D39B9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E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5B5E1-4BF9-44E5-B032-641AFFD0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한 종목을 고르기 전에 다섯 번 질문한다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997FD-4E09-4B59-903C-57D6D7C6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각 프로그램은 서로 다른 시간축과 질문을 담당한다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15125-D9B2-40CB-B0EF-F00E707E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EC4E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EC4E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71AE2-188E-41BE-85DE-DC53DC6D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ECAFF-53EE-4EDF-ADA9-98D6DDD4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23E55-24E6-4C1F-B715-AE9D51ED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9065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지금 위험을 감수해도 되는가?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BE7D1-406C-4BF4-A34E-81D12D27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3355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B82F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B82F6"/>
                </a:solidFill>
                <a:latin typeface="Noto Sans KR"/>
                <a:ea typeface="Noto Sans KR"/>
                <a:cs typeface="Noto Sans KR"/>
              </a:rPr>
              <a:t>Risk regime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018DE-A6BB-4542-AC5A-E3C82371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5735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5C3E28-DCD6-4232-AB44-8773A453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D5D792-84DE-4FB7-997A-A2143FD0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D5C96F-8E95-42BA-8DDC-BCDA8CD8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860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자금은 어느 산업으로 이동하는가?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FFB9C-F6B1-4BA4-88B0-A8689AE0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289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Sector rotation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D97C1B-161C-49BD-9ED6-E77F628C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5270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EC8B63-8959-4052-BF63-E973178B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DE0BBA-0031-48D9-86D8-DEE566AE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AF1F02-E741-43E6-AA6E-A59ACB40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AI·데이터센터 수요는 실제 매출로 확인되는가?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ABED1F-F474-44D2-BC82-4826CB03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Earnings signal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70C1AE-84AF-4615-B382-88657A8F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4805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DCFFB4-9E49-4909-9866-A4D3D075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9D4868-D7D4-4F6E-B7AE-F5E8CE79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D9B2E4-086C-41B6-87EC-C68B2197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그 산업에서 재무적으로 강한 기업은 무엇인가?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C57C56-24C2-4FD2-9E7B-3C49CC6E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196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Stock selection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55EC63-AE0F-4F2F-A793-ABC55AE6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4340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3D16B2-6A4A-4736-83D1-1BF358C4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5B5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D3D7AC-E4E9-426F-A530-75FEDDA7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34AD5A-B344-4A85-8D97-234E109E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7205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언제 사고 언제 줄일 것인가?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51014F-EBE6-4D8C-9626-1EE0D10E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1495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F5B5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EF5B5B"/>
                </a:solidFill>
                <a:latin typeface="Noto Sans KR"/>
                <a:ea typeface="Noto Sans KR"/>
                <a:cs typeface="Noto Sans KR"/>
              </a:rPr>
              <a:t>Entry &amp; exit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1F6B0F-459F-46BB-9770-FFA2DB0B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3875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50E265-42ED-4DDE-8125-B5391839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주식투자 분석 시스템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C274AE-BF7F-458A-9911-7B5C36FB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124361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51A4A3-18B2-4F4F-A20D-B3E61786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5개 프로젝트가 만드는 투자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7DAF3-911C-4957-A07E-D929311E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6D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FC6DD"/>
                </a:solidFill>
                <a:latin typeface="Noto Sans KR"/>
                <a:ea typeface="Noto Sans KR"/>
                <a:cs typeface="Noto Sans KR"/>
              </a:rPr>
              <a:t>앞 단계가 뒤 단계의 후보군과 위험 한도를 결정한다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D0252-252E-4361-854C-DF9834F5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2038350" cy="24003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102945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66449-DF63-4EA8-ABAD-11C41913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B82F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B82F6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E3C5E-B237-4B1C-8B35-0C4383B0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1695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yfinance-risk-analysis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CDEFA-9FB5-491E-8789-74A417F4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91EAC-48D6-445E-AF48-8279A2AE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D4E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C4D4E5"/>
                </a:solidFill>
                <a:latin typeface="Noto Sans KR"/>
                <a:ea typeface="Noto Sans KR"/>
                <a:cs typeface="Noto Sans KR"/>
              </a:rPr>
              <a:t>시장 위험 온도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363EC-7EDB-4EC5-9C0A-182D9FDD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09900"/>
            <a:ext cx="2667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89D66-076D-4076-8F72-9364B1DA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076450"/>
            <a:ext cx="2038350" cy="24003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102945"/>
          </a:solidFill>
          <a:ln xmlns:a="http://schemas.openxmlformats.org/drawingml/2006/main" w="9525">
            <a:solidFill>
              <a:srgbClr val="8B5CF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597B31-961B-47CF-9621-F521B257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2479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1254A6-D2E3-4D6F-BC74-ED875517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724150"/>
            <a:ext cx="1695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institutional-flow-engine-python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B1B8C-FF2E-4F76-9F61-88361AEC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5052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3D4935-22FB-4E7E-91D5-9C63CB02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71475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D4E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C4D4E5"/>
                </a:solidFill>
                <a:latin typeface="Noto Sans KR"/>
                <a:ea typeface="Noto Sans KR"/>
                <a:cs typeface="Noto Sans KR"/>
              </a:rPr>
              <a:t>섹터 자금 흐름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C5665C-189B-4345-A828-14F19A9B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09900"/>
            <a:ext cx="2667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216CC-41FF-4A59-A76D-31A6A976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76450"/>
            <a:ext cx="2038350" cy="24003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102945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0EAFAC-E25E-41D1-82A3-B47C43D3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479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92FB96-DC3A-47B9-BB02-D10462E5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24150"/>
            <a:ext cx="1695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data-center-earnings-agent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E09F84-AD30-4125-BF4E-15B93D7D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052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92C537-744D-40D1-AC11-1D5A9791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1475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D4E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C4D4E5"/>
                </a:solidFill>
                <a:latin typeface="Noto Sans KR"/>
                <a:ea typeface="Noto Sans KR"/>
                <a:cs typeface="Noto Sans KR"/>
              </a:rPr>
              <a:t>수요 검증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F922F2-EC7E-45F9-BE4C-46FADAC9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09900"/>
            <a:ext cx="2667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FAABAF-BC08-46E3-B52A-F0A8A18D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076450"/>
            <a:ext cx="2038350" cy="24003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102945"/>
          </a:solidFill>
          <a:ln xmlns:a="http://schemas.openxmlformats.org/drawingml/2006/main" w="9525">
            <a:solidFill>
              <a:srgbClr val="23B26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DC3662-2088-472D-BF14-2F400C7E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2479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511AD6-6517-4B02-A620-38700D0E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724150"/>
            <a:ext cx="1695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realtime-financials-mock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BABA94-879B-4974-BB17-6EE686AF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5052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94D85D-84D0-4DA8-99A0-30D30AE2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71475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D4E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C4D4E5"/>
                </a:solidFill>
                <a:latin typeface="Noto Sans KR"/>
                <a:ea typeface="Noto Sans KR"/>
                <a:cs typeface="Noto Sans KR"/>
              </a:rPr>
              <a:t>종목 품질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7EB7B3-5C7A-47ED-A65A-87AB5EBC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009900"/>
            <a:ext cx="2667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6AED9F-C8F3-46AB-ACF0-E40EC55E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76450"/>
            <a:ext cx="2038350" cy="24003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102945"/>
          </a:solidFill>
          <a:ln xmlns:a="http://schemas.openxmlformats.org/drawingml/2006/main" w="9525">
            <a:solidFill>
              <a:srgbClr val="EF5B5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C42A2A-8B83-42B9-876F-3534D8E1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479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F5B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F5B5B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F839F5-F9E6-42C0-9A50-D6F44766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24150"/>
            <a:ext cx="1695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hantu-kis-trading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DE6936-0E8E-4748-A747-5EF9EA2E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5052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5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E85C4B-901B-41C1-9F14-C0269FEF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71475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D4E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C4D4E5"/>
                </a:solidFill>
                <a:latin typeface="Noto Sans KR"/>
                <a:ea typeface="Noto Sans KR"/>
                <a:cs typeface="Noto Sans KR"/>
              </a:rPr>
              <a:t>주문 타이밍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A02130-D04D-4238-9761-AECF7579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B82F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B82F6"/>
                </a:solidFill>
                <a:latin typeface="Noto Sans KR"/>
                <a:ea typeface="Noto Sans KR"/>
                <a:cs typeface="Noto Sans KR"/>
              </a:rPr>
              <a:t>위험예산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80590A-FF82-4F74-9DC8-2D661A7D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067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투자 우선순위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54C35B-10A0-4D37-8C74-9A14E196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067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9E0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실적 확신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B97C0B-42DD-40D1-8E87-DE995A2A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67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후보 점수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50EB23-90AA-49AA-8793-1E2827EE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067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F5B5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EF5B5B"/>
                </a:solidFill>
                <a:latin typeface="Noto Sans KR"/>
                <a:ea typeface="Noto Sans KR"/>
                <a:cs typeface="Noto Sans KR"/>
              </a:rPr>
              <a:t>매수·매도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A94732-33C0-4349-B215-90B4370F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출력은 다음 프로그램의 입력으로 이어진다</a:t>
            </a:r>
          </a:p>
        </p:txBody>
      </p:sp>
    </p:spTree>
    <p:extLst>
      <p:ext uri="{BB962C8B-B14F-4D97-AF65-F5344CB8AC3E}">
        <p14:creationId xmlns:p14="http://schemas.microsoft.com/office/powerpoint/2010/main" val="19031277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928E7A-EB02-4534-AB56-3626F6E8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A9F54-3972-403A-A742-DA82FB16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1단계: 금융시장의 위험 온도를 측정한다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C5887-4E83-4627-B099-9A91BD99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yfinance-risk-analysis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61B61-1771-41BF-BBBC-AE6E62E0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3B82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B82F6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6906A-BB0A-4980-8E88-7BF4A277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72B506-B6D1-4A3C-B086-08ADDE9D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A2201-0776-4C0E-AE15-5F6D879D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변동성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844C2-5E6A-4744-807F-A858D80D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VIX·VXN</a:t>
            </a:r>
          </a:p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시장이 요구하는 단기 위험 프리미엄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6D951-C4D2-4C8A-9D60-06FBE2C1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0C0C35-7B81-47B0-A524-049AB5D4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A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68023-05CC-45A1-97C2-26D557C4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383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유동성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E91AEB-39A2-4026-AB82-EA5F503F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달러·국채·금융여건</a:t>
            </a:r>
          </a:p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위험자산으로 들어갈 돈의 여유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99A729-342D-40C2-B166-E909CD73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8FCE1-BAEA-4DE4-9549-77580C07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98C2B0-0892-4E73-BE29-376021E3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신용경색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E356A-0BCD-488D-9667-1962DB87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HY OAS·HYG/LQD</a:t>
            </a:r>
          </a:p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기업 신용시장의 스트레스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55E552-0DB2-4960-8660-FCFA8A54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2EBE3A-E424-4F4F-BC1D-B6760FAB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5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884A8B-650E-4785-A25B-B3921077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38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글로벌 리스크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DFBF2C-809D-4800-9308-49E8E84B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91000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UUP·EEM·금리차</a:t>
            </a:r>
          </a:p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달러 강세와 해외 위험 선호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D6E28D-4700-44F7-A04F-037A39F5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2EE694-806E-4E41-8314-ACD08723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1  시장환경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240279-C3AD-47A3-8B37-664820CF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D3CB42-02C4-4B69-8034-7B779511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2  섹터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0778EB-4F30-4EC0-8A8E-31DA09A9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E697D0-8993-430E-B3C9-B89844C1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3  빅테크 실적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1D40FD-869E-40D0-96D9-8CF9D7B1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CA4395-93F7-4499-A0A6-A386EFB6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4  종목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711193-629B-4FDF-BF7D-230C40C2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081A97-1D22-459B-8AAB-4D4C4BAA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5  타이밍</a:t>
            </a:r>
          </a:p>
        </p:txBody>
      </p:sp>
    </p:spTree>
    <p:extLst>
      <p:ext uri="{BB962C8B-B14F-4D97-AF65-F5344CB8AC3E}">
        <p14:creationId xmlns:p14="http://schemas.microsoft.com/office/powerpoint/2010/main" val="12865780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491D48-636E-406B-A58E-B4F84C53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1EB21-7737-4C7B-AC8C-9A8EE6F3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Macro 신호는 투자 비중과 행동을 바꾼다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534FF-EB6C-44BF-A0ED-C78E82FD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단일 지표보다 여러 시장의 동시 악화를 본다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F75B84-7166-4469-84E2-B31163DC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3B82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B82F6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968C7-5786-4D79-9247-E82B25CA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952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B26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정상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A7EC3-21C3-4C88-A7A9-E4868501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52400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변동성 안정, HY OAS 낮음, 금융여건 완화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64704-86AE-4DFF-B3D9-1AFE5F49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695450"/>
            <a:ext cx="4953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04F4F-58E4-4989-880C-68C5D9DC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52400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위험자산 비중 유지 또는 확대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5A83A-FB31-4712-BA9E-FCE0ABBE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952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주의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3B1FA-C77E-4C5F-9DDE-F19A8562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81940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VIX 상승, 달러 강세, 신용 스프레드 확대 시작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6532B-092E-442A-B35C-FAA4AE80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90850"/>
            <a:ext cx="4953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FCD4E-1038-48E4-9CB1-5E472D71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1940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신규 매수 속도 축소, 현금 비중 점검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3B8B8F-34BF-4BAA-9F4E-6D160AC3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952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5B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위험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52B31-F3D8-4190-9FCE-4EDB5F98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1480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변동성·신용·유동성이 함께 악화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2207F4-36BB-4552-970F-8A389C3C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86250"/>
            <a:ext cx="4953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F5B5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8BC6DD-AF85-474F-BCB0-45C3D907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1480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5B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EF5B5B"/>
                </a:solidFill>
                <a:latin typeface="Noto Sans KR"/>
                <a:ea typeface="Noto Sans KR"/>
                <a:cs typeface="Noto Sans KR"/>
              </a:rPr>
              <a:t>포지션 축소, 레버리지 억제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8B4974-451B-4344-9770-04BA77C1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7156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7E105B-63A2-4810-93B6-7FB8CEA9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149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B82F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B82F6"/>
                </a:solidFill>
                <a:latin typeface="Noto Sans KR"/>
                <a:ea typeface="Noto Sans KR"/>
                <a:cs typeface="Noto Sans KR"/>
              </a:rPr>
              <a:t>핵심 출력: Risk-on / Neutral / Risk-off + 허용 가능한 투자 비중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2AB764-56AE-4953-8BCE-FDDA390E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515EB5-66A3-4AE3-A254-E5AD4842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1  시장환경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D7763F-7C7E-4169-A3F9-7FE45588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56E274-70E8-49F5-B0EF-5DAE2020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2  섹터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E66EB0-024E-4081-9F03-A241359D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6F2AE7-7F7F-4C36-AC04-66E3241B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3  빅테크 실적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1B2A7F-3336-4DD9-A613-E5CD2512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139622-CDB7-4EE3-A1E1-B59BA055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4  종목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73F674-9592-4F01-8847-A40B1DA7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E78663-E9DD-43B4-A5B7-0D610D0A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5  타이밍</a:t>
            </a:r>
          </a:p>
        </p:txBody>
      </p:sp>
    </p:spTree>
    <p:extLst>
      <p:ext uri="{BB962C8B-B14F-4D97-AF65-F5344CB8AC3E}">
        <p14:creationId xmlns:p14="http://schemas.microsoft.com/office/powerpoint/2010/main" val="11633259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E82BB4-54F0-4D85-873D-D5AE2901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246ED-6464-410B-853D-C30BD659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2단계: 기관 자금이 향하는 섹터를 찾는다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A76E8-DC35-44AB-B4B5-9CB32C7F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institutional-flow-engine-python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3F829-687E-4B95-BA2E-A6FC7B8E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8B5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49C00-E1CC-4173-948D-2003B565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85925"/>
            <a:ext cx="2076450" cy="25717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619BB-D0A2-4F48-B7CC-CBD47F84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924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2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2E40F-D463-4D61-A95D-0094953D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08597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28F26-EB7E-4740-8637-F8E415CB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Semiconductor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1F88E0-655A-46A2-BB04-07055C3B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6710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AI 가속기·HBM·네트워크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67973-68EF-43E3-8053-373FCA18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85925"/>
            <a:ext cx="2076450" cy="25717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4EFFF"/>
          </a:solidFill>
          <a:ln xmlns:a="http://schemas.openxmlformats.org/drawingml/2006/main" w="9525">
            <a:solidFill>
              <a:srgbClr val="8B5CF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6D5DA1-6CE1-49DB-8399-6734BAC8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924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5C601-2C33-4153-83F4-3E18B5A8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8597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7882BC-9F73-466B-A08D-D21B602A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1465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Data Center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A3EE79-0641-4358-917B-0756C21F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6710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전력·냉각·서버·건설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AAD97-561F-41A1-A24D-B5676273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85925"/>
            <a:ext cx="2076450" cy="25717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F925DF-9DE3-4C43-AB82-744EE2FE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924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2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03D68-3E68-4217-ACE9-86FD1B5D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08597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320A09-7190-4C10-9354-F0093CDF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1465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Software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907372-3019-49D6-82DB-F1A861C7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6710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클라우드·AI 응용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A86651-0BC7-4007-B199-34646D22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85925"/>
            <a:ext cx="2076450" cy="25717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1EB72F-3740-44BC-AA09-2E791BC2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24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2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E5573A-2B09-40A2-808D-9617D20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8597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548678-F3AE-4E6A-9F43-686B997B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1465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Cybersecurity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737E89-5B53-4D9E-A180-31312680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6710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보안 예산과 반복 매출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76412D-11A4-4AD1-9CE7-0D0EBF14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685925"/>
            <a:ext cx="2076450" cy="25717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D0B64F-49DF-43A1-8FA2-B2993DCF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19240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2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F8477E-DF46-462E-9DF7-8B47B5F2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08597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FFE50D-1092-4AEC-A58C-68E2A28A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1465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Defense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32CECE-0B6B-4730-B07B-71299012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6710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수주잔고와 정부 예산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F4C3B7-96F6-49B9-85C8-FBF42E03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상대강도 · 거래대금 · ETF 흐름 · 추세 지속성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1506EE-9A13-4807-B455-53D1C4EA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48275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출력: 섹터별 우선순위와 관찰 종목군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730CF2-D19B-46E1-AE9A-0DF330C2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DAFFEB-49AE-416E-A19D-1AE20254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1  시장환경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577569-C740-4173-8002-346F8FE8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A6EC02-C0F3-4580-B5FB-5ECCB770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2  섹터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561963-091B-40AC-8CAA-39018483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2ADC85-B8F2-4AC3-8754-A5FD714E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3  빅테크 실적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B548B5-C9A9-4AF9-BB13-7E3BDAB2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673E36-4258-42E7-8B18-E3F1475D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4  종목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3DA3E7-7EB6-45AF-AB9D-BD360C42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6192D7-5158-4F55-87E3-2A5754BA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5  타이밍</a:t>
            </a:r>
          </a:p>
        </p:txBody>
      </p:sp>
    </p:spTree>
    <p:extLst>
      <p:ext uri="{BB962C8B-B14F-4D97-AF65-F5344CB8AC3E}">
        <p14:creationId xmlns:p14="http://schemas.microsoft.com/office/powerpoint/2010/main" val="886000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94FC8E-DC95-4D89-A139-A6E3DD24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2BFFD-E049-4E0D-9E10-6553FC53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섹터 선택은 상승률보다 흐름의 질을 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1823D0-09AB-4DB4-B9BF-128FDA56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같은 수익률이라도 자금의 성격과 지속성은 다르다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1ECC4-84A7-4BA2-B34E-AF647F03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8B5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CC560-1926-45D6-A6F7-96C2B98B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62100"/>
            <a:ext cx="2476500" cy="2619375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A7196-6065-4EAC-8F82-543ED6E5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62100"/>
            <a:ext cx="6667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2F516-08C1-4E22-A0A8-F25A28B4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752600"/>
            <a:ext cx="914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FACTOR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F911F-232D-4163-AEE1-90220DC6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52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가격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33171-6670-46D1-A365-62365E3C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71750"/>
            <a:ext cx="205740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시장 대비 상대강도</a:t>
            </a:r>
          </a:p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고점·저점의 방향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D89CA-2D20-410D-A062-3A609306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562100"/>
            <a:ext cx="2476500" cy="2619375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93CD65-AAC8-47A2-BDBC-44DC2087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562100"/>
            <a:ext cx="6667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685184-F046-49C6-8818-E925C39C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752600"/>
            <a:ext cx="914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FACTOR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CB9D2F-331E-4664-A222-45C4E862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52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수급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3131D-2DED-41CE-81A2-942E5016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571750"/>
            <a:ext cx="205740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ETF 자금 유입</a:t>
            </a:r>
          </a:p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거래량과 거래대금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52ADB0-182B-4598-87FB-39ED7FBA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62100"/>
            <a:ext cx="2476500" cy="2619375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546A00-F4C3-4D0D-BC34-148E0DDD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62100"/>
            <a:ext cx="6667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66D2A0-ABEF-48A8-A785-C8F25638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52600"/>
            <a:ext cx="914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FACTOR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0C67D6-3545-4622-B42E-EC688F45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52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확산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69490B-ACB9-43B4-B802-05F5B18A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71750"/>
            <a:ext cx="205740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대형주 몇 종목인지</a:t>
            </a:r>
          </a:p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섹터 전반의 상승인지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0DA8EA-2735-4662-9D5A-F710543F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562100"/>
            <a:ext cx="2476500" cy="2619375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A23747-A78F-4561-9DD4-46495A26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562100"/>
            <a:ext cx="6667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8EFF90-0BE8-417C-ABE9-A664B443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752600"/>
            <a:ext cx="914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FACTOR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6A9826-21B3-48BF-9EFF-DDE191D6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152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촉매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586462-3CEB-4768-B2EA-E9512661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571750"/>
            <a:ext cx="205740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실적·수주·정책</a:t>
            </a:r>
          </a:p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상승을 설명할 근거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191970-F146-46AB-B691-BFB3E8D6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52950"/>
            <a:ext cx="108585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4EF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A148F4-D62D-409F-AE4A-B420F17B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5CF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예시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16BC7C-D3D8-4B41-A4F4-CDD42537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반도체가 강해도 소수 AI 종목만 오르고 ETF 유입이 약하면 추격 매수의 확신을 낮춘다. 반대로 방산의 수주와 거래대금이 함께 늘면 후보군을 확대한다.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80D865-E03E-43FF-8800-E4BDA07B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D9100A-36D5-463B-A227-EC743BC7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1  시장환경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1E0EF0-F145-4FD3-91FD-E856053C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19DA56-C5C5-4603-AD1B-C5EC6DE7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2  섹터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6DC2E4-25C5-429A-8254-73B6363A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28D018-08E8-4D6E-A982-120791EF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3  빅테크 실적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7D7C7F-D6CE-452C-8A20-3EBFEEBB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CA87A5-ABFF-43AF-BFA8-EFB2F95A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4  종목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223E67-D87A-4A56-9F46-9A95F840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36F6E5-0C22-4DE1-ABF3-BB794CF7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5  타이밍</a:t>
            </a:r>
          </a:p>
        </p:txBody>
      </p:sp>
    </p:spTree>
    <p:extLst>
      <p:ext uri="{BB962C8B-B14F-4D97-AF65-F5344CB8AC3E}">
        <p14:creationId xmlns:p14="http://schemas.microsoft.com/office/powerpoint/2010/main" val="7744396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6DECD8-7F77-4F79-9C88-FBBB63E6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CD64F-8EB1-4279-8E53-37F98E16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3단계: 데이터센터 수요를 빅테크 실적으로 검증한다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8C974-34DB-49C5-B148-1DC53F78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data-center-earnings-agent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7F13A-2043-4FFA-A708-B54C0ADD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59E0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88F0D-4E91-4F6C-AAEF-3535A4EB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47800"/>
            <a:ext cx="51435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02044-0D75-4CD2-BDF2-EE973EF3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47800"/>
            <a:ext cx="666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BF5A3-2CFE-45CD-B5F0-5515D6C8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65735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Microsoft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F0909-0574-47CB-974F-1CDE1ADD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14550"/>
            <a:ext cx="4724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Azure</a:t>
            </a:r>
          </a:p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클라우드 성장률·AI 기여·CapEx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0ADF4-5D28-489B-BBB1-075CE03E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47800"/>
            <a:ext cx="51435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EACE6-7150-47B9-99BF-1AA7F8A4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47800"/>
            <a:ext cx="666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C8D89-937A-4829-9154-0E3D5CED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5735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Amazon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F8E32-459F-4505-969D-C702C0E4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4724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AWS</a:t>
            </a:r>
          </a:p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성장률·마진·AI 인프라 투자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56F42-9C69-426A-867F-681B8BDD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95675"/>
            <a:ext cx="51435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D86485-B3B8-4741-B0D4-8A4EC0FD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95675"/>
            <a:ext cx="666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CE949E-2FDA-4EC6-84A9-044D2BA8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05225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Alphabet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2D11D5-A262-47E6-B29D-2C8B0776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62425"/>
            <a:ext cx="4724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Google Cloud</a:t>
            </a:r>
          </a:p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매출·영업이익·백로그·CapEx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0BF018-D126-46C6-B4C3-26340685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95675"/>
            <a:ext cx="51435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47D860-2758-4AF4-AE17-D80DBBAB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95675"/>
            <a:ext cx="666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4D97C2-CDE5-433E-901F-1C7FB2C4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05225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Meta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BB896F-8B2A-465A-8C5C-1BCF5817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62425"/>
            <a:ext cx="4724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AI Infrastructure</a:t>
            </a:r>
          </a:p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CapEx 가이던스·광고 수익화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011635-6FC3-41CD-9654-4CE2B6B7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4025"/>
            <a:ext cx="1071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9E0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빅테크의 지출은 반도체·서버·네트워크·전력·냉각 공급망의 매출 선행 신호가 된다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8B8A54-A003-4D7A-B8F7-1E79EAB3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F63AEA-0F41-4805-9DAF-7EA401BE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1  시장환경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D94E07-D382-42B3-92A2-4BED150A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5AC1AC-8413-43B2-AC0B-4CA956E1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2  섹터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62A75E-B71C-433E-A017-2B86552B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B1AF33-85EA-4EA3-A497-4D828D68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3  빅테크 실적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1693BE-6237-4E51-86EF-04E07882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0B7E84-34F7-4C3A-B417-4BDD64A5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4  종목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47BC91-EC84-4AA0-BE8C-448BF38E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A54243-55B2-4B96-8712-1271FE0D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5  타이밍</a:t>
            </a:r>
          </a:p>
        </p:txBody>
      </p:sp>
    </p:spTree>
    <p:extLst>
      <p:ext uri="{BB962C8B-B14F-4D97-AF65-F5344CB8AC3E}">
        <p14:creationId xmlns:p14="http://schemas.microsoft.com/office/powerpoint/2010/main" val="12214596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8EA934-8BED-4B26-B429-D72EA68E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Earnings Agent의 5분 분석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88460-1A56-4DDC-B116-F67CA499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6D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FC6DD"/>
                </a:solidFill>
                <a:latin typeface="Noto Sans KR"/>
                <a:ea typeface="Noto Sans KR"/>
                <a:cs typeface="Noto Sans KR"/>
              </a:rPr>
              <a:t>숫자와 경영진 문장을 함께 읽어 공급망 영향을 추론한다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1F2904-2EE2-46F2-BE40-15292A0A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2047875" cy="20764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02945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241D9-CF6E-4DA7-BD82-819EC5FE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9DA7F-BE7A-4F7A-8513-DC0EFD9F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42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71426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1A43B-4663-435A-AFEA-BFB42856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공시·보도자료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FD624-20B3-418E-9EFC-DA8B429F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6D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AFC6DD"/>
                </a:solidFill>
                <a:latin typeface="Noto Sans KR"/>
                <a:ea typeface="Noto Sans KR"/>
                <a:cs typeface="Noto Sans KR"/>
              </a:rPr>
              <a:t>실적 발표 감지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55A20-AA8A-4DA8-AC0C-FFDE71FF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95600"/>
            <a:ext cx="2476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ECC01-DD92-4906-A769-0657F6A2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114550"/>
            <a:ext cx="2047875" cy="20764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02945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B1B25-2EFC-4BCD-87A7-2B4671FE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305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292DA5-E51B-4B05-8A56-8FD25283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362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42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71426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38015-DE86-4C7F-A52C-1E2F4ECE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9146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핵심 수치 추출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49321-EEAB-46C4-B71D-75B0B5B1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4861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6D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AFC6DD"/>
                </a:solidFill>
                <a:latin typeface="Noto Sans KR"/>
                <a:ea typeface="Noto Sans KR"/>
                <a:cs typeface="Noto Sans KR"/>
              </a:rPr>
              <a:t>Cloud·CapEx·RPO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AE2F85-5CF0-4645-8D3D-C5A478B5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95600"/>
            <a:ext cx="2476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443A7B-A5F2-4C9F-A14E-860F20A1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14550"/>
            <a:ext cx="2047875" cy="20764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02945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08AE99-CED1-4834-8C2B-E23BF853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05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2A176E-9A2F-4C65-A909-9C8096CF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62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42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71426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AE1B98-2ACF-4598-BFDE-C160BDB7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146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가이던스 비교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A804DC-8857-4E94-A31C-EA7F4602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4861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6D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AFC6DD"/>
                </a:solidFill>
                <a:latin typeface="Noto Sans KR"/>
                <a:ea typeface="Noto Sans KR"/>
                <a:cs typeface="Noto Sans KR"/>
              </a:rPr>
              <a:t>전분기·컨센서스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67363F-DC08-4006-ACD8-D9C6E239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95600"/>
            <a:ext cx="2476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F1D521-DBED-4475-9648-4B4B775B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14550"/>
            <a:ext cx="2047875" cy="20764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02945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B68C96-FF64-4B76-B129-3B963057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05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ABFDA8-C80A-43A2-B941-FF5FCB0A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42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71426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9673D4-257F-46D9-A5A0-5DB66CBE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146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문장 분류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6E8CC9-AA53-47EE-8ABF-7F22F156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861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6D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AFC6DD"/>
                </a:solidFill>
                <a:latin typeface="Noto Sans KR"/>
                <a:ea typeface="Noto Sans KR"/>
                <a:cs typeface="Noto Sans KR"/>
              </a:rPr>
              <a:t>수요·공급 제약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BE8332-15C8-443D-BFCB-72A8DD99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95600"/>
            <a:ext cx="2476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FE5D79-A4CB-4192-9DD9-C715BFE9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14550"/>
            <a:ext cx="2047875" cy="20764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02945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E21B7C-7BF3-43C4-BFC3-1679F39B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305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422E2D-09EB-478F-BA5F-3C70B1BD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362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42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71426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FDD6C4-8957-4716-B96F-9AE3C922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9146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영향 요약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CCF65B-481A-40D5-B478-3CF2EDFE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861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6D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AFC6DD"/>
                </a:solidFill>
                <a:latin typeface="Noto Sans KR"/>
                <a:ea typeface="Noto Sans KR"/>
                <a:cs typeface="Noto Sans KR"/>
              </a:rPr>
              <a:t>수혜·위험 섹터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39C2DD-56EB-4AD6-AE5F-87EAA6AC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11049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82F4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A4E671-93A8-47B3-8176-47613906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38725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결과 예시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7F3290-719F-443D-858E-CAB15180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244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Azure 성장 가속 + CapEx 상향 + 전력 제약 지속. AI 서버 수요는 강하지만, 전력·냉각 병목이 매출 인식 속도를 제한</a:t>
            </a:r>
          </a:p>
        </p:txBody>
      </p:sp>
    </p:spTree>
    <p:extLst>
      <p:ext uri="{BB962C8B-B14F-4D97-AF65-F5344CB8AC3E}">
        <p14:creationId xmlns:p14="http://schemas.microsoft.com/office/powerpoint/2010/main" val="4507865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996CC4-DF27-4F4E-B58E-B17A850F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E870B-25AD-4168-87F9-79A1C504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빅테크 실적은 공급망 투자 논리로 번역한다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371B9-D452-4416-A2A4-B3FFD648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매출 성장만 보지 않고 CapEx의 목적과 병목을 확인한다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7A803-D083-4BCB-80CE-6731C0B0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59E0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9A098-1434-480D-B621-CFC9EFAA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2333625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40680-5747-4DDF-BBA4-D415FE19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23336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FCA450-24BA-4B9B-8E75-80633909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Cloud 수요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304B1-72C9-421B-AED1-0C14CCBF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Azure · AWS</a:t>
            </a:r>
          </a:p>
          <a:p xmlns:a="http://schemas.openxmlformats.org/drawingml/2006/main">
            <a:pPr algn="ctr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Google Cloud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198DC-929F-4138-9F15-F6DABADD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81275"/>
            <a:ext cx="38100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F2559-6E00-4E78-BB84-0A34A969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47850"/>
            <a:ext cx="2333625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5CF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50081-8016-461A-A604-A17C7D08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47850"/>
            <a:ext cx="23336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335F1A-E225-471C-B969-A3460A62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0980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AI Compute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9DE2E7-7951-43A2-B2EA-0452DD1C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003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GPU · HBM</a:t>
            </a:r>
          </a:p>
          <a:p xmlns:a="http://schemas.openxmlformats.org/drawingml/2006/main">
            <a:pPr algn="ctr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Networking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BF554-E522-4DAC-BE24-6E52C5EF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81275"/>
            <a:ext cx="38100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B75FB-5DF3-47DB-ACF4-E8565F4F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47850"/>
            <a:ext cx="2333625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FB5D9B-6381-473E-8034-1C5CDEBB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47850"/>
            <a:ext cx="23336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9F44C6-354E-4D68-8BDC-7D63F9FF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0980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Physical DC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2DB6E1-296B-4EE9-B7FA-7B59B6FC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003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Server · Rack</a:t>
            </a:r>
          </a:p>
          <a:p xmlns:a="http://schemas.openxmlformats.org/drawingml/2006/main">
            <a:pPr algn="ctr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Cooling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42CD1E-6C1B-4895-8035-C6E99DF1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81275"/>
            <a:ext cx="38100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C824BC-1846-4669-A0E1-6067AE2A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47850"/>
            <a:ext cx="2333625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B26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13CD41-7C93-4F0C-A692-10A05E75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47850"/>
            <a:ext cx="23336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57DE65-5940-42C6-A573-71F95130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0980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Power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E463A0-BD67-4B47-A0FE-C76A31B6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003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Transformer</a:t>
            </a:r>
          </a:p>
          <a:p xmlns:a="http://schemas.openxmlformats.org/drawingml/2006/main">
            <a:pPr algn="ctr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Grid · UPS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A6CBBD-730D-4AC8-9206-73F1BF5C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1073467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F8BA6B-B12A-4540-8F35-EF898485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053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9E0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해석 원칙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D12A78-B452-46C2-B22F-2C825F18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291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CapEx 상향은 공급망 전체에 같은 호재가 아니다. 투자 항목, 납품 시차, 생산능력, 병목 위치를 확인한 뒤 종목별 매출 전환 가능성을 판단한다.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5ED4E8-AB19-4732-ACB4-1D725924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7F3FC8-544F-42FF-B54C-203B238A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1  시장환경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74183F-C3B4-44B9-89CB-7684A3AB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0DEE24-0107-4501-AF54-53BC879B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2  섹터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D065E3-0D64-45E3-96E9-D36DCAAF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2EFF54-E157-4141-88ED-C17A0100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3  빅테크 실적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A3B1F5-6761-4217-A3BF-7A556488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2A6F81-3147-43DC-9D1D-04945365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4  종목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26CD78-605A-40DB-BDE3-F66F5881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DCDA6F-70C3-414C-9D5B-6B3B4A39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5  타이밍</a:t>
            </a:r>
          </a:p>
        </p:txBody>
      </p:sp>
    </p:spTree>
    <p:extLst>
      <p:ext uri="{BB962C8B-B14F-4D97-AF65-F5344CB8AC3E}">
        <p14:creationId xmlns:p14="http://schemas.microsoft.com/office/powerpoint/2010/main" val="2981144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74A15B-71D3-4736-BF07-9E819AFE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D5126-B413-4D1A-BAF6-944E5185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4단계: 좋은 섹터 안에서 좋은 기업을 고른다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0F469-CF49-4796-A905-91521468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realtime-financials-mock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AB806-2AC8-4D1D-8FED-F27938BF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B9292-29EC-4D71-B0C5-9845A84C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00200"/>
            <a:ext cx="2047875" cy="304800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62259-1CEF-4D5D-84BD-0D635C8D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00200"/>
            <a:ext cx="666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C2A42-737B-43DA-9536-ABB057C2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914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B26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14251-F3E9-4399-9E5A-83184342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1628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성장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6BD34-048B-4A2C-90B0-9E674E63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1628775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매출·EPS 성장률</a:t>
            </a:r>
          </a:p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수주잔고와 가이던스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CD2CE5-38D3-4D08-8D18-897AE6E2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600200"/>
            <a:ext cx="2047875" cy="304800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934D3-E3D3-4468-9748-D9DAE406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600200"/>
            <a:ext cx="666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3C04F-9D95-4C35-ADFC-B2BE46CF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790700"/>
            <a:ext cx="914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B26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15505-A2EF-480B-B1D5-2FD5509D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190750"/>
            <a:ext cx="1628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수익성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D91628-ACB6-48B5-8F71-84612379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609850"/>
            <a:ext cx="1628775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영업이익률·ROE</a:t>
            </a:r>
          </a:p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현금흐름 전환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14902-2367-4BFE-B5E3-40C5962A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00200"/>
            <a:ext cx="2047875" cy="304800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3C619F-1B51-4A59-B6D2-48D50481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00200"/>
            <a:ext cx="666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2B4119-11F8-4FEA-9BE1-ED722218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90700"/>
            <a:ext cx="914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B26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14A924-1A57-448D-9DBE-ADC87C35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1628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재무안정성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E8AF63-D446-491B-B819-8A673D7C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09850"/>
            <a:ext cx="1628775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부채·이자보상</a:t>
            </a:r>
          </a:p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현금과 희석 위험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0D0ECA-6DD3-4A68-84D2-8AFA144A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00200"/>
            <a:ext cx="2047875" cy="304800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E7EDBD-150C-4616-A2A7-309B0003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00200"/>
            <a:ext cx="666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A6A57E-58F7-42B5-9A02-AC776989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790700"/>
            <a:ext cx="914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B26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259A63-F7EA-4CA8-8E65-F1AD2B70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190750"/>
            <a:ext cx="1628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밸류에이션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E1815C-DCB6-4DF7-A60C-DF87C309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609850"/>
            <a:ext cx="1628775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PER·EV/EBITDA</a:t>
            </a:r>
          </a:p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성장 대비 가격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A28796-B749-4061-836D-57FDE612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600200"/>
            <a:ext cx="2047875" cy="304800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6B1601-C14A-4CA5-A079-5B609E0F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600200"/>
            <a:ext cx="666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27E199-091F-44AB-925A-01D7F4CB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790700"/>
            <a:ext cx="914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B26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D377DA-5854-4ACE-8D68-3B4913B4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90750"/>
            <a:ext cx="1628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촉매와 위험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BC1167-572F-402C-9845-21CCF4D8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609850"/>
            <a:ext cx="1628775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실적 일정·정책</a:t>
            </a:r>
          </a:p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고객 집중·공급 제약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C43666-A057-4D21-B789-8A843720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출력: 종목 점수, 투자 논리, 반증 조건, 관찰 가격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A5FC0A-F39B-4BC5-ADA7-BC3852A7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38B497-438E-49E3-863C-F693BA03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1  시장환경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5887BF-5A50-4FE2-99E5-88F0B261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506B2E-A125-49BA-8908-6B3BFD1B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2  섹터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CB386A-D50F-472C-B5F8-4BEB6F7B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E82553-E8D3-4EB3-8283-2F2A1FBD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3  빅테크 실적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242CEF-ABB5-4D60-B2F1-593CA58D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B26D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C9A31E-DEB9-48C5-AB58-2F8B6A23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4  종목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D00A9B-F59B-4BA2-9501-239211F0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5E4409-293B-47AF-93A2-364CC3D0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5  타이밍</a:t>
            </a:r>
          </a:p>
        </p:txBody>
      </p:sp>
    </p:spTree>
    <p:extLst>
      <p:ext uri="{BB962C8B-B14F-4D97-AF65-F5344CB8AC3E}">
        <p14:creationId xmlns:p14="http://schemas.microsoft.com/office/powerpoint/2010/main" val="18444983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6A41F2-62E4-4D48-BEA6-06FBABA2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F8919-53BD-417C-9194-8D683EF4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종목 점수는 선택 이유와 제외 이유를 동시에 남긴다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88A32-56E2-44C9-B394-BB0D86FA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후보 선정과 리스크 관리에 같은 기준을 사용한다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6A091-FD7D-4D75-B537-70FE875E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531A1-8BB6-4C19-80B6-235E5F8B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382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평가 항목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DE394-CAEC-49B4-A04D-07CD516F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4382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가중치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C79C6-2C92-471D-8DCF-44512464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382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D7F24-6688-4A15-934D-DE3DBA6E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10648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8F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FD56F-EE35-4BD0-95CC-09F4AD63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성장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40A3D-1491-459E-A8AA-13E39A23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240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25%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A105E-50AC-43CB-A8EE-54979195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240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최근 성장과 향후 가이던스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E2661-D90F-4DCB-9EB9-CCD45151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10648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49F4F-98BB-44C8-BC19-A50DED56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수익성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C2541D-94E5-4AF2-9C5C-CA6F8762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5717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20%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ADFC0-C1B6-47DC-B29C-52344454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71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마진과 현금흐름의 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5A640-41DE-40EB-A9FD-A17F26D1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10648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8F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3A0F78-18CF-4B75-BC78-7064119C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재무안정성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282E8E-F5B0-4065-84CB-89C46BB2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194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15%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8412F3-F48C-401A-8861-245A029E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194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부채와 자금조달 위험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3BBB40-95E6-421A-9EFA-97556D0D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10648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D1294F-6758-4B7F-9757-DF7D45C2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밸류에이션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AB5177-5901-4B42-9A72-CB5D016C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8671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20%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E659A3-560A-4148-95E9-1DE499B4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671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역사·동종업계 대비 가격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C0CA34-A57E-453D-845C-CBAA79C5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106489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8F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D8D586-7231-4845-8C87-EB3D4F5B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촉매·위험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C3F0E3-D814-4E21-BD6F-C65C9FD7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148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20%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10491-7B15-4275-8AD8-B84A1D7C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14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실적 촉매와 반증 조건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A37F77-E03F-44FA-9E63-D00608ED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0648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B26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A73094-1DF8-4633-AFF3-E73F99B3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81625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75점 이상: 투자 후보   60~74점: 관찰   60점 미만: 제외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1DE4B4-1E1A-40E3-8C77-EF68BCF5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0BE118-3A33-472B-A455-0F2C7406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1  시장환경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31C731-8184-4E54-B17E-F3E8FFB0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FAAC36-1317-4694-B85D-4BB9A959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2  섹터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9A6AED-4CDF-4156-8C46-B2DC0737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AC8DCA-5EA9-4C5F-8659-977E5B43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3  빅테크 실적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8E62EA-5C73-4271-A67B-DACC6D8A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B26D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BB3FBA-33B7-4115-BB0B-6CB792C4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4  종목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2C7399-C9E5-4C4A-895A-C25F589F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FCBDE3-5145-4265-9A1B-D3152878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5  타이밍</a:t>
            </a:r>
          </a:p>
        </p:txBody>
      </p:sp>
    </p:spTree>
    <p:extLst>
      <p:ext uri="{BB962C8B-B14F-4D97-AF65-F5344CB8AC3E}">
        <p14:creationId xmlns:p14="http://schemas.microsoft.com/office/powerpoint/2010/main" val="176360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35BF83-C76C-4757-903D-C334069B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F7AF2-D390-480A-A515-A93ED312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5단계: 기술적 지표로 진입과 청산을 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05691-DFEA-4F29-93AA-4258A3C2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hantu-kis-trading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16370-B7A4-4142-BFE7-553947E6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F5B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F5B5B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598B2-AB79-4F0A-AD0A-D8276D98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333375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C021E-017C-4F08-99B9-34FD1A68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666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5332F5-E239-4ADA-BE52-439362B7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914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SIGNAL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32340-9644-4C7B-B131-24B9313F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0DC71-9FE5-473D-86B4-E8559859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9146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방향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가격이 이동평균선 위에 있는가?</a:t>
            </a:r>
          </a:p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단기선과 장기선의 배열은 어떤가?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1A2F98-251A-4925-8FDA-2D0572BD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62100"/>
            <a:ext cx="333375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4BD0A-48F4-473C-A204-85B5436D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62100"/>
            <a:ext cx="666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FAF69-3F90-4A39-A9CB-9AE97A74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52600"/>
            <a:ext cx="914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A2F3F4-6266-4183-9B46-CA992FD8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526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RSI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6DA321-29EE-48DB-A99E-774A84D5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29146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속도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상승 모멘텀이 살아 있는가?</a:t>
            </a:r>
          </a:p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과열 또는 과매도 구간인가?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448AB-63B1-41E8-9853-D57794CE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333375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4FA9B-8FD3-4E09-B8E4-D5E8A166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666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5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763FC5-D828-4463-BD7C-5779194D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914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5B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SIGNAL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9312E2-C429-414F-B2C2-46F26314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526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ADX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9AF89A-C760-4FD0-BD1F-CB5A6C18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29146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추세 강도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현재 움직임이 추세인가?</a:t>
            </a:r>
          </a:p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횡보장에서 신호가 흔들리는가?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5743A7-1BC6-4C8D-9F87-3C10E13C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38700"/>
            <a:ext cx="10744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AE0E5D-899B-4277-A53C-CD0A6053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1032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세 지표는 종목의 가치를 판단하지 않는다. 앞 단계에서 고른 종목의 매수 시점, 손절 기준, 비중 조절에 사용한다.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C966A3-BFB3-4691-A329-A6A14C8A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606048-92DB-4ECE-AEB9-96B0162E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1  시장환경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90A99A-EA3E-4749-8355-E4CE333B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78F454-8B71-4DE1-8769-194B13FC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2  섹터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070321-114A-453D-A6C0-C69BECC8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F6DF92-43B8-40B1-B8E3-0EDDBDD5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3  빅테크 실적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D3A01B-E4B2-4C31-A5A1-572B78F5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0F71B7-16A4-419F-A6DE-F112892B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4  종목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3437F2-9E1E-49C5-BFE6-3A8EE829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5B5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3C4BF8-1EE6-494E-972D-46F7594E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5  타이밍</a:t>
            </a:r>
          </a:p>
        </p:txBody>
      </p:sp>
    </p:spTree>
    <p:extLst>
      <p:ext uri="{BB962C8B-B14F-4D97-AF65-F5344CB8AC3E}">
        <p14:creationId xmlns:p14="http://schemas.microsoft.com/office/powerpoint/2010/main" val="81858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5449E0-7B37-473F-AF07-29AF1679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F0A0F-E135-477D-8C73-889153F7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매매 규칙은 신호 조합과 위험 한도로 완성된다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ED4D6-A370-49B8-A70A-5C23DC2E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예시는 강의용 규칙이며 종목 특성에 맞게 백테스트한다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C51BC-A035-4A0C-B309-5870CC63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F5B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F5B5B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FBFBB-F366-4AE7-A6A0-F5734DE2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상태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63477-B5B0-4611-99EF-6CB5B829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811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7C45A-55FC-400A-AB36-16297228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38112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RSI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463CA-BC1F-412C-AE8D-1DBC8465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3811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ADX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EF8EA-59AA-4A1A-94A4-F764EBD2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811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행동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6446CA-5DFB-4A54-A899-A01D2C80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28800"/>
            <a:ext cx="10858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FF8F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E8F5D-7388-4582-9F9E-5598DE3F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66925"/>
            <a:ext cx="1238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B26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매수 후보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B09A02-B061-4C36-A922-206BB059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943100"/>
            <a:ext cx="2714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가격 &gt; 20MA &gt; 60MA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0D8F3-B391-4F1B-ABF9-206A8FEE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43100"/>
            <a:ext cx="1381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RSI 50~70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4D7933-C407-489A-B02B-7F02A551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431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ADX &gt; 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4997A-5F41-48BD-9C6F-F4E5D6B2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431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분할 진입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0D253-5A71-45E0-994C-6B514C2C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10858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6DE06B-9106-41BF-B3ED-DF39AB78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1238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관망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27EA8B-479F-4251-B30D-D7F1CD22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09900"/>
            <a:ext cx="2714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이동평균 혼조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BC884A-4B1F-4390-BE88-24755E2D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09900"/>
            <a:ext cx="1381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RSI 40~60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55BA97-24D4-427B-A487-91EFD982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ADX &lt; 20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A06E05-A5D4-4F27-A9C9-94005348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99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9E0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추세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C1B122-2BC6-41D4-A576-F4AF342C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62400"/>
            <a:ext cx="10858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A6F247-2DD0-45CB-BF92-108709B6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238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5B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축소·청산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E58B56-32A7-4E2B-BF1E-69C0D7AC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76700"/>
            <a:ext cx="2714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가격 &lt; 20MA 또는 손절선 이탈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DFE02-5C82-4124-AAD8-FE170F74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76700"/>
            <a:ext cx="1381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RSI 약화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9C3B94-1E04-4B08-AC3F-0E17988E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76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32238"/>
                </a:solidFill>
                <a:latin typeface="Noto Sans KR"/>
                <a:ea typeface="Noto Sans KR"/>
                <a:cs typeface="Noto Sans KR"/>
              </a:rPr>
              <a:t>ADX 상승 중 하락추세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6020D7-2ABB-48E8-BF5C-FEF253CC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767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F5B5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EF5B5B"/>
                </a:solidFill>
                <a:latin typeface="Noto Sans KR"/>
                <a:ea typeface="Noto Sans KR"/>
                <a:cs typeface="Noto Sans KR"/>
              </a:rPr>
              <a:t>비중 축소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14E76F-48A7-4C67-B043-D6C98B64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F5B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EF5B5B"/>
                </a:solidFill>
                <a:latin typeface="Noto Sans KR"/>
                <a:ea typeface="Noto Sans KR"/>
                <a:cs typeface="Noto Sans KR"/>
              </a:rPr>
              <a:t>포지션 크기 · 손절 가격 · 최대 손실액을 주문 전에 계산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EF1E0A-DFDA-4A94-86D5-42016D22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FB600F-CECF-4701-9379-58D22780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1  시장환경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53DE6C-F8F1-431B-A255-50E21D49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92AC3A-760C-44AB-AD19-3859F609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2  섹터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81D9C7-E20E-455C-9478-52E1027F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ECFB5E-2E4E-473C-825A-124DFCF4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3  빅테크 실적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685B0F-AD29-46ED-9E24-32711B1F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1D790E-AC95-4353-8648-8267B36E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07087"/>
                </a:solidFill>
                <a:latin typeface="Noto Sans KR"/>
                <a:ea typeface="Noto Sans KR"/>
                <a:cs typeface="Noto Sans KR"/>
              </a:rPr>
              <a:t>4  종목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CB5AA3-B896-4AB0-9D53-9C3BB160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067425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5B5B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E97FC6-47CC-47E2-9246-2042D7BC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0864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5  타이밍</a:t>
            </a:r>
          </a:p>
        </p:txBody>
      </p:sp>
    </p:spTree>
    <p:extLst>
      <p:ext uri="{BB962C8B-B14F-4D97-AF65-F5344CB8AC3E}">
        <p14:creationId xmlns:p14="http://schemas.microsoft.com/office/powerpoint/2010/main" val="14030657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C3FEA0-B7C7-4EC2-8CF7-3C44405A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하나의 투자 아이디어가 주문으로 바뀌는 과정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565B2-0061-45B7-9B1F-C4610B37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6D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FC6DD"/>
                </a:solidFill>
                <a:latin typeface="Noto Sans KR"/>
                <a:ea typeface="Noto Sans KR"/>
                <a:cs typeface="Noto Sans KR"/>
              </a:rPr>
              <a:t>가상의 데이터센터 전력기기 종목을 예로 든 분석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6FEF46-C832-4A26-9F8B-4747C365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11049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945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F56E7-0DE7-463C-82B6-865578B8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D2753-C01F-43EB-8631-0BE5779A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42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71426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B4E83-3185-4941-9DC5-955C376A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811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B82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B82F6"/>
                </a:solidFill>
                <a:latin typeface="Noto Sans KR"/>
                <a:ea typeface="Noto Sans KR"/>
                <a:cs typeface="Noto Sans KR"/>
              </a:rPr>
              <a:t>Macro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17B28-0B34-4337-8EB0-93A7062F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811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신용과 변동성 안정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8124F-DFC6-40E7-B5F8-000AF7E7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81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4D4E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C4D4E5"/>
                </a:solidFill>
                <a:latin typeface="Noto Sans KR"/>
                <a:ea typeface="Noto Sans KR"/>
                <a:cs typeface="Noto Sans KR"/>
              </a:rPr>
              <a:t>위험예산 70%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6086D-252C-4BCD-AADE-290EA24B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11049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945"/>
          </a:solidFill>
          <a:ln xmlns:a="http://schemas.openxmlformats.org/drawingml/2006/main" w="9525">
            <a:solidFill>
              <a:srgbClr val="8B5CF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C3222-EA75-4FF0-BBB2-BBE695D7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4821D-D6A6-423E-96B8-3C5E05C7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42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71426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591909-C0C7-462A-9199-83ADF9E3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574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B5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Sector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6FEFA-A0CD-4812-9ED4-6E779E01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574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Data Center 상대강도 1위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6D2D5-1D86-4BED-9DEA-E6F313C4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574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4D4E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C4D4E5"/>
                </a:solidFill>
                <a:latin typeface="Noto Sans KR"/>
                <a:ea typeface="Noto Sans KR"/>
                <a:cs typeface="Noto Sans KR"/>
              </a:rPr>
              <a:t>후보군 확대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BA9ED7-BA95-4A77-B8F0-77F372FE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11049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945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5CBAD-7CF8-4F8D-B64D-205AEB5B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238DA-4259-4FD7-8A8D-E38C2270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42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71426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D47C64-CC43-45E6-9232-AD3B661A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337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Earnings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1B722D-E7F2-4F28-B1FA-7FADA256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337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CapEx 상향·전력 병목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1AD526-2548-4BF7-9E0D-2E143DB6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4D4E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C4D4E5"/>
                </a:solidFill>
                <a:latin typeface="Noto Sans KR"/>
                <a:ea typeface="Noto Sans KR"/>
                <a:cs typeface="Noto Sans KR"/>
              </a:rPr>
              <a:t>수요 확신 강화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7EDA8C-B2C0-4814-B764-2CF76D61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11049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945"/>
          </a:solidFill>
          <a:ln xmlns:a="http://schemas.openxmlformats.org/drawingml/2006/main" w="9525">
            <a:solidFill>
              <a:srgbClr val="23B26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793CFF-81C7-4F59-B0F3-C51E31A1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B26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E3D2A9-595E-418A-93D0-402847F4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42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71426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084C0C-9D36-42E7-901A-7880E434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100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Stock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8C35ED-19B9-4BE3-A90C-5BD88DF1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100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성장·마진·수주 점수 82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ADC122-BC27-49E3-8E93-AEECA109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100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4D4E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C4D4E5"/>
                </a:solidFill>
                <a:latin typeface="Noto Sans KR"/>
                <a:ea typeface="Noto Sans KR"/>
                <a:cs typeface="Noto Sans KR"/>
              </a:rPr>
              <a:t>투자 후보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1AA3DC-7172-4471-B6F5-42102FFF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72050"/>
            <a:ext cx="11049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945"/>
          </a:solidFill>
          <a:ln xmlns:a="http://schemas.openxmlformats.org/drawingml/2006/main" w="9525">
            <a:solidFill>
              <a:srgbClr val="EF5B5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2CEAAE-6E60-40D1-B0CC-5BA28160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5B5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ECF651-B7D8-4F24-B61D-357BFA49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42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71426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2DF760-FF9C-4D49-94A8-70DE261C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863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F5B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F5B5B"/>
                </a:solidFill>
                <a:latin typeface="Noto Sans KR"/>
                <a:ea typeface="Noto Sans KR"/>
                <a:cs typeface="Noto Sans KR"/>
              </a:rPr>
              <a:t>Trading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BF6F84-0BFF-461C-BBCB-6C1E56A4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20MA 회복·ADX 24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D4F458-FB17-4426-9CBB-C1AD909E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863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4D4E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C4D4E5"/>
                </a:solidFill>
                <a:latin typeface="Noto Sans KR"/>
                <a:ea typeface="Noto Sans KR"/>
                <a:cs typeface="Noto Sans KR"/>
              </a:rPr>
              <a:t>1차 분할 매수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853140-3E6E-4CB1-81FF-8A5EEA42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15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C4E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EC4E6"/>
                </a:solidFill>
                <a:latin typeface="Noto Sans KR"/>
                <a:ea typeface="Noto Sans KR"/>
                <a:cs typeface="Noto Sans KR"/>
              </a:rPr>
              <a:t>분석 기록이 남아야 결과보다 의사결정의 질을 개선할 수 있다</a:t>
            </a:r>
          </a:p>
        </p:txBody>
      </p:sp>
    </p:spTree>
    <p:extLst>
      <p:ext uri="{BB962C8B-B14F-4D97-AF65-F5344CB8AC3E}">
        <p14:creationId xmlns:p14="http://schemas.microsoft.com/office/powerpoint/2010/main" val="12255283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CB8BB6-CBBD-4AB1-B56E-7269E58C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E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77D6B-743A-468E-9AF8-11FF7266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다섯 프로그램, 하나의 투자 원칙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85A13-2EDD-40AC-B930-2552B5AB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FC6D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FC6DD"/>
                </a:solidFill>
                <a:latin typeface="Noto Sans KR"/>
                <a:ea typeface="Noto Sans KR"/>
                <a:cs typeface="Noto Sans KR"/>
              </a:rPr>
              <a:t>좋은 종목도 시장환경과 매수 시점이 맞지 않으면 좋은 투자가 되기 어렵다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5015D-7155-486E-8FB3-0BD6EDD3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945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9A4D1-0218-497A-A2B7-E4B3640D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82F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B82F6"/>
                </a:solidFill>
                <a:latin typeface="Noto Sans KR"/>
                <a:ea typeface="Noto Sans KR"/>
                <a:cs typeface="Noto Sans KR"/>
              </a:rPr>
              <a:t>시장환경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320E2-A5DF-4A89-AC8D-578471A5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003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감당할 위험을 정한다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E27C4-2594-4CF5-A7A4-CB26E414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820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945"/>
          </a:solidFill>
          <a:ln xmlns:a="http://schemas.openxmlformats.org/drawingml/2006/main" w="9525">
            <a:solidFill>
              <a:srgbClr val="8B5CF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288CD-E73E-4638-94FD-C60CCBA7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8B5CF6"/>
                </a:solidFill>
                <a:latin typeface="Noto Sans KR"/>
                <a:ea typeface="Noto Sans KR"/>
                <a:cs typeface="Noto Sans KR"/>
              </a:rPr>
              <a:t>섹터·실적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C94A1-3ACA-4EEF-90B5-219DD2BF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909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돈의 방향과 수요를 확인한다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9A06F-35E9-4FE6-BD95-5E5BE89A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20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945"/>
          </a:solidFill>
          <a:ln xmlns:a="http://schemas.openxmlformats.org/drawingml/2006/main" w="9525">
            <a:solidFill>
              <a:srgbClr val="23B26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340FC2-E5DC-45BA-BE0B-F9B0D91D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815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B26D"/>
                </a:solidFill>
                <a:latin typeface="Noto Sans KR"/>
                <a:ea typeface="Noto Sans KR"/>
                <a:cs typeface="Noto Sans KR"/>
              </a:rPr>
              <a:t>종목·타이밍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43C99B-4E35-47E6-A2BD-F5F2AD20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815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7FAFC"/>
                </a:solidFill>
                <a:latin typeface="Noto Sans KR"/>
                <a:ea typeface="Noto Sans KR"/>
                <a:cs typeface="Noto Sans KR"/>
              </a:rPr>
              <a:t>품질과 가격 행동을 연결한다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6DBA44-3B9D-4953-A7BF-F54AEB37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EC4E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F3AEDA-10FC-44CA-BB3E-D78C5768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48325"/>
            <a:ext cx="10525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42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71426"/>
                </a:solidFill>
                <a:latin typeface="Noto Sans KR"/>
                <a:ea typeface="Noto Sans KR"/>
                <a:cs typeface="Noto Sans KR"/>
              </a:rPr>
              <a:t>Macro   Sector   Earnings   Stock   Trading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3009BF-5F0D-4A7C-A3B0-D5440A42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FA9C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8FA9C0"/>
                </a:solidFill>
                <a:latin typeface="Noto Sans KR"/>
                <a:ea typeface="Noto Sans KR"/>
                <a:cs typeface="Noto Sans KR"/>
              </a:rPr>
              <a:t>투자 판단은 확률이며, 손실 한도와 분산 원칙이 항상 우선한다</a:t>
            </a:r>
          </a:p>
        </p:txBody>
      </p:sp>
    </p:spTree>
    <p:extLst>
      <p:ext uri="{BB962C8B-B14F-4D97-AF65-F5344CB8AC3E}">
        <p14:creationId xmlns:p14="http://schemas.microsoft.com/office/powerpoint/2010/main" val="20640316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2026-09-12T04:03:35.0230000Z</dcterms:created>
  <dcterms:modified xsi:type="dcterms:W3CDTF">2026-09-12T04:03:35.0230000Z</dcterms:modified>
</coreProperties>
</file>