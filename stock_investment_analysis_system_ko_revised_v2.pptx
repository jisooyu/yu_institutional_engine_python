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79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D56D366-6336-4787-A4EF-9C65826F60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C4E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ED47D4-17BC-4E14-830E-844745B795E5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주식투자 분석 시스템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ECCA6A-B723-4662-8D57-C2485A98EA10}"/>
              </a:ext>
            </a:extLst>
          </p:cNvPr>
          <p:cNvSpPr>
            <a:spLocks noGrp="1"/>
          </p:cNvSpPr>
          <p:nvPr/>
        </p:nvSpPr>
        <p:spPr>
          <a:xfrm>
            <a:off x="723900" y="1495425"/>
            <a:ext cx="9620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Macro에서 Trading까지, 5개 Python 프로젝트로 연결하는 투자 의사결정 흐름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D36925-AACC-4083-A244-8ABA6D360ACC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1866900" cy="1428750"/>
          </a:xfrm>
          <a:prstGeom prst="roundRect">
            <a:avLst>
              <a:gd name="adj" fmla="val 5333"/>
            </a:avLst>
          </a:prstGeom>
          <a:solidFill>
            <a:srgbClr val="102945"/>
          </a:solidFill>
          <a:ln w="9525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2F05D9-3A69-42FB-B999-B0ABC821CABC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0A53AF-D128-49E9-878B-B0CD61B36633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1524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시장환경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6F02E67-1217-43C1-929D-83096DB24AB4}"/>
              </a:ext>
            </a:extLst>
          </p:cNvPr>
          <p:cNvSpPr>
            <a:spLocks noGrp="1"/>
          </p:cNvSpPr>
          <p:nvPr/>
        </p:nvSpPr>
        <p:spPr>
          <a:xfrm>
            <a:off x="2590800" y="3371850"/>
            <a:ext cx="247650" cy="323850"/>
          </a:xfrm>
          <a:prstGeom prst="rightArrow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B5DFF8-6429-4343-90C6-9723F693232D}"/>
              </a:ext>
            </a:extLst>
          </p:cNvPr>
          <p:cNvSpPr>
            <a:spLocks noGrp="1"/>
          </p:cNvSpPr>
          <p:nvPr/>
        </p:nvSpPr>
        <p:spPr>
          <a:xfrm>
            <a:off x="2876550" y="2857500"/>
            <a:ext cx="1866900" cy="1428750"/>
          </a:xfrm>
          <a:prstGeom prst="roundRect">
            <a:avLst>
              <a:gd name="adj" fmla="val 5333"/>
            </a:avLst>
          </a:prstGeom>
          <a:solidFill>
            <a:srgbClr val="102945"/>
          </a:solidFill>
          <a:ln w="9525">
            <a:solidFill>
              <a:srgbClr val="8B5C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BE901D-BE50-43CC-A9CE-EA29905F1C67}"/>
              </a:ext>
            </a:extLst>
          </p:cNvPr>
          <p:cNvSpPr>
            <a:spLocks noGrp="1"/>
          </p:cNvSpPr>
          <p:nvPr/>
        </p:nvSpPr>
        <p:spPr>
          <a:xfrm>
            <a:off x="3048000" y="302895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B942EA-A8BE-4944-99F6-F67F5FDE0B35}"/>
              </a:ext>
            </a:extLst>
          </p:cNvPr>
          <p:cNvSpPr>
            <a:spLocks noGrp="1"/>
          </p:cNvSpPr>
          <p:nvPr/>
        </p:nvSpPr>
        <p:spPr>
          <a:xfrm>
            <a:off x="3048000" y="3448050"/>
            <a:ext cx="1524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섹터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618450A-4CBA-4B2A-B96C-42CA78AC03B0}"/>
              </a:ext>
            </a:extLst>
          </p:cNvPr>
          <p:cNvSpPr>
            <a:spLocks noGrp="1"/>
          </p:cNvSpPr>
          <p:nvPr/>
        </p:nvSpPr>
        <p:spPr>
          <a:xfrm>
            <a:off x="4762500" y="3371850"/>
            <a:ext cx="247650" cy="323850"/>
          </a:xfrm>
          <a:prstGeom prst="rightArrow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BBDA0C-81DF-47B6-9512-188D285D92DB}"/>
              </a:ext>
            </a:extLst>
          </p:cNvPr>
          <p:cNvSpPr>
            <a:spLocks noGrp="1"/>
          </p:cNvSpPr>
          <p:nvPr/>
        </p:nvSpPr>
        <p:spPr>
          <a:xfrm>
            <a:off x="5048250" y="2857500"/>
            <a:ext cx="1866900" cy="1428750"/>
          </a:xfrm>
          <a:prstGeom prst="roundRect">
            <a:avLst>
              <a:gd name="adj" fmla="val 5333"/>
            </a:avLst>
          </a:prstGeom>
          <a:solidFill>
            <a:srgbClr val="102945"/>
          </a:solidFill>
          <a:ln w="9525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09A784-F80B-468B-8A76-B5F4E0DB0A44}"/>
              </a:ext>
            </a:extLst>
          </p:cNvPr>
          <p:cNvSpPr>
            <a:spLocks noGrp="1"/>
          </p:cNvSpPr>
          <p:nvPr/>
        </p:nvSpPr>
        <p:spPr>
          <a:xfrm>
            <a:off x="5219700" y="302895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3A9167-88D3-4DFC-A758-516241DC1DE4}"/>
              </a:ext>
            </a:extLst>
          </p:cNvPr>
          <p:cNvSpPr>
            <a:spLocks noGrp="1"/>
          </p:cNvSpPr>
          <p:nvPr/>
        </p:nvSpPr>
        <p:spPr>
          <a:xfrm>
            <a:off x="5219700" y="3448050"/>
            <a:ext cx="1524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빅테크 실적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744ABE5-154C-418A-9F4B-B6DAB1C1048A}"/>
              </a:ext>
            </a:extLst>
          </p:cNvPr>
          <p:cNvSpPr>
            <a:spLocks noGrp="1"/>
          </p:cNvSpPr>
          <p:nvPr/>
        </p:nvSpPr>
        <p:spPr>
          <a:xfrm>
            <a:off x="6934200" y="3371850"/>
            <a:ext cx="247650" cy="323850"/>
          </a:xfrm>
          <a:prstGeom prst="rightArrow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173707-7F3A-4B7F-AA0C-2E88036D84D4}"/>
              </a:ext>
            </a:extLst>
          </p:cNvPr>
          <p:cNvSpPr>
            <a:spLocks noGrp="1"/>
          </p:cNvSpPr>
          <p:nvPr/>
        </p:nvSpPr>
        <p:spPr>
          <a:xfrm>
            <a:off x="7219950" y="2857500"/>
            <a:ext cx="1866900" cy="1428750"/>
          </a:xfrm>
          <a:prstGeom prst="roundRect">
            <a:avLst>
              <a:gd name="adj" fmla="val 5333"/>
            </a:avLst>
          </a:prstGeom>
          <a:solidFill>
            <a:srgbClr val="102945"/>
          </a:solidFill>
          <a:ln w="9525">
            <a:solidFill>
              <a:srgbClr val="23B26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4209EC-E2A6-41C9-9727-3B33D99D20C6}"/>
              </a:ext>
            </a:extLst>
          </p:cNvPr>
          <p:cNvSpPr>
            <a:spLocks noGrp="1"/>
          </p:cNvSpPr>
          <p:nvPr/>
        </p:nvSpPr>
        <p:spPr>
          <a:xfrm>
            <a:off x="7391400" y="302895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D672CA-716E-4C25-9AEF-B42B6119E77A}"/>
              </a:ext>
            </a:extLst>
          </p:cNvPr>
          <p:cNvSpPr>
            <a:spLocks noGrp="1"/>
          </p:cNvSpPr>
          <p:nvPr/>
        </p:nvSpPr>
        <p:spPr>
          <a:xfrm>
            <a:off x="7391400" y="3448050"/>
            <a:ext cx="1524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종목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A911723-FE71-4696-9454-6C31370814A0}"/>
              </a:ext>
            </a:extLst>
          </p:cNvPr>
          <p:cNvSpPr>
            <a:spLocks noGrp="1"/>
          </p:cNvSpPr>
          <p:nvPr/>
        </p:nvSpPr>
        <p:spPr>
          <a:xfrm>
            <a:off x="9105900" y="3371850"/>
            <a:ext cx="247650" cy="323850"/>
          </a:xfrm>
          <a:prstGeom prst="rightArrow">
            <a:avLst/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E2C67E7-4EA0-4A3E-9DB9-E964ECAF4BED}"/>
              </a:ext>
            </a:extLst>
          </p:cNvPr>
          <p:cNvSpPr>
            <a:spLocks noGrp="1"/>
          </p:cNvSpPr>
          <p:nvPr/>
        </p:nvSpPr>
        <p:spPr>
          <a:xfrm>
            <a:off x="9391650" y="2857500"/>
            <a:ext cx="1866900" cy="1428750"/>
          </a:xfrm>
          <a:prstGeom prst="roundRect">
            <a:avLst>
              <a:gd name="adj" fmla="val 5333"/>
            </a:avLst>
          </a:prstGeom>
          <a:solidFill>
            <a:srgbClr val="102945"/>
          </a:solidFill>
          <a:ln w="9525">
            <a:solidFill>
              <a:srgbClr val="EF5B5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058A5C-AE49-45B2-BB67-8DAE03B20F79}"/>
              </a:ext>
            </a:extLst>
          </p:cNvPr>
          <p:cNvSpPr>
            <a:spLocks noGrp="1"/>
          </p:cNvSpPr>
          <p:nvPr/>
        </p:nvSpPr>
        <p:spPr>
          <a:xfrm>
            <a:off x="9563100" y="302895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D36764-DA2D-4C48-A94A-67D68F74BA28}"/>
              </a:ext>
            </a:extLst>
          </p:cNvPr>
          <p:cNvSpPr>
            <a:spLocks noGrp="1"/>
          </p:cNvSpPr>
          <p:nvPr/>
        </p:nvSpPr>
        <p:spPr>
          <a:xfrm>
            <a:off x="9563100" y="3448050"/>
            <a:ext cx="1524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매매 타이밍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430968-1FD9-4CA2-BE15-FBF00A9C2980}"/>
              </a:ext>
            </a:extLst>
          </p:cNvPr>
          <p:cNvSpPr>
            <a:spLocks noGrp="1"/>
          </p:cNvSpPr>
          <p:nvPr/>
        </p:nvSpPr>
        <p:spPr>
          <a:xfrm>
            <a:off x="723900" y="5791200"/>
            <a:ext cx="9048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8FA9C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8FA9C0"/>
                </a:solidFill>
                <a:latin typeface="Noto Sans KR"/>
                <a:ea typeface="Noto Sans KR"/>
                <a:cs typeface="Noto Sans KR"/>
              </a:rPr>
              <a:t>YouTube 강의용  |  Top-down + Bottom-up + Technical Analysis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06159A-4961-4209-9B1D-28A26F4B97A5}"/>
              </a:ext>
            </a:extLst>
          </p:cNvPr>
          <p:cNvSpPr>
            <a:spLocks noGrp="1"/>
          </p:cNvSpPr>
          <p:nvPr/>
        </p:nvSpPr>
        <p:spPr>
          <a:xfrm>
            <a:off x="723900" y="61531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EC4E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C4E6"/>
                </a:solidFill>
                <a:latin typeface="Noto Sans KR"/>
                <a:ea typeface="Noto Sans KR"/>
                <a:cs typeface="Noto Sans KR"/>
              </a:rPr>
              <a:t>slow_coding jisooyu</a:t>
            </a:r>
          </a:p>
        </p:txBody>
      </p:sp>
    </p:spTree>
    <p:extLst>
      <p:ext uri="{BB962C8B-B14F-4D97-AF65-F5344CB8AC3E}">
        <p14:creationId xmlns:p14="http://schemas.microsoft.com/office/powerpoint/2010/main" val="165648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E3966EF-AF1D-47C2-B7D1-DAABDFC9D3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EC4E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3CDFC1-AC36-4ACF-A040-6CA0AC6CDC39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한 종목을 고르기 전에 다섯 번 질문한다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E85416-BA19-4DE3-9D6A-9DC925AB723D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1009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각 프로그램은 서로 다른 시간축과 질문을 담당한다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8D7C40-89C1-4421-A9FA-3ADAEA6DC24E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609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2EC4E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EC4E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F64393A-2274-4959-B97C-1BE1445AE8E4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514350" cy="51435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AE42F1-3BBC-49E0-A237-9F3B77A67073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5143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D1E2-23F4-49FD-82D5-F23FCDD6DCA3}"/>
              </a:ext>
            </a:extLst>
          </p:cNvPr>
          <p:cNvSpPr>
            <a:spLocks noGrp="1"/>
          </p:cNvSpPr>
          <p:nvPr/>
        </p:nvSpPr>
        <p:spPr>
          <a:xfrm>
            <a:off x="1428750" y="1390650"/>
            <a:ext cx="7524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지금 위험을 감수해도 되는가?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63B826-B48E-40FA-AD92-486CD37C1FF5}"/>
              </a:ext>
            </a:extLst>
          </p:cNvPr>
          <p:cNvSpPr>
            <a:spLocks noGrp="1"/>
          </p:cNvSpPr>
          <p:nvPr/>
        </p:nvSpPr>
        <p:spPr>
          <a:xfrm>
            <a:off x="1428750" y="1733550"/>
            <a:ext cx="4191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 algn="l">
              <a:defRPr sz="10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Risk regime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C1E4CF-EFB4-48E8-8418-543FA6768D64}"/>
              </a:ext>
            </a:extLst>
          </p:cNvPr>
          <p:cNvSpPr>
            <a:spLocks noGrp="1"/>
          </p:cNvSpPr>
          <p:nvPr/>
        </p:nvSpPr>
        <p:spPr>
          <a:xfrm>
            <a:off x="9144000" y="1657350"/>
            <a:ext cx="228600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AE67D3F-FB60-4C96-BD2F-93D0792F6CE2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514350" cy="51435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0A6092-29D1-4E71-8734-F320551A3775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143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606DD1-6DAF-44F4-85A1-31C80C3ED84C}"/>
              </a:ext>
            </a:extLst>
          </p:cNvPr>
          <p:cNvSpPr>
            <a:spLocks noGrp="1"/>
          </p:cNvSpPr>
          <p:nvPr/>
        </p:nvSpPr>
        <p:spPr>
          <a:xfrm>
            <a:off x="1428750" y="2286000"/>
            <a:ext cx="7524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자금은 어느 산업으로 이동하는가?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6C9044-8230-4175-A538-6FE9FEDAE844}"/>
              </a:ext>
            </a:extLst>
          </p:cNvPr>
          <p:cNvSpPr>
            <a:spLocks noGrp="1"/>
          </p:cNvSpPr>
          <p:nvPr/>
        </p:nvSpPr>
        <p:spPr>
          <a:xfrm>
            <a:off x="1428750" y="2628900"/>
            <a:ext cx="4191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 algn="l">
              <a:defRPr sz="10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Sector rotation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2A4732-83A0-4CF0-A7E1-4B0CA08BFB47}"/>
              </a:ext>
            </a:extLst>
          </p:cNvPr>
          <p:cNvSpPr>
            <a:spLocks noGrp="1"/>
          </p:cNvSpPr>
          <p:nvPr/>
        </p:nvSpPr>
        <p:spPr>
          <a:xfrm>
            <a:off x="9144000" y="2552700"/>
            <a:ext cx="228600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FED349-AEB2-4A2E-ACFA-5448658A1715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514350" cy="51435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7415D6-EEF5-4B19-BC93-0DEE370524B5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5143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2A00E7-DA5B-4485-9386-F4FD8230AEA6}"/>
              </a:ext>
            </a:extLst>
          </p:cNvPr>
          <p:cNvSpPr>
            <a:spLocks noGrp="1"/>
          </p:cNvSpPr>
          <p:nvPr/>
        </p:nvSpPr>
        <p:spPr>
          <a:xfrm>
            <a:off x="1428750" y="3181350"/>
            <a:ext cx="7524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AI·데이터센터 수요는 실제 매출로 확인되는가?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D39030-533E-400E-B764-AC21EF14610A}"/>
              </a:ext>
            </a:extLst>
          </p:cNvPr>
          <p:cNvSpPr>
            <a:spLocks noGrp="1"/>
          </p:cNvSpPr>
          <p:nvPr/>
        </p:nvSpPr>
        <p:spPr>
          <a:xfrm>
            <a:off x="1428750" y="3524250"/>
            <a:ext cx="4191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 algn="l">
              <a:defRPr sz="10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Earnings signal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95D47F-253C-43FF-8645-EBB24BFEF320}"/>
              </a:ext>
            </a:extLst>
          </p:cNvPr>
          <p:cNvSpPr>
            <a:spLocks noGrp="1"/>
          </p:cNvSpPr>
          <p:nvPr/>
        </p:nvSpPr>
        <p:spPr>
          <a:xfrm>
            <a:off x="9144000" y="3448050"/>
            <a:ext cx="228600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28046BA-4711-46A6-AB56-09EACD35137F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514350" cy="514350"/>
          </a:xfrm>
          <a:prstGeom prst="ellipse">
            <a:avLst/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3BE9C9-CF9F-4C59-800F-C43E387D4E9A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5143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091522-1CFE-47D9-AC9A-EFF62EA38BDB}"/>
              </a:ext>
            </a:extLst>
          </p:cNvPr>
          <p:cNvSpPr>
            <a:spLocks noGrp="1"/>
          </p:cNvSpPr>
          <p:nvPr/>
        </p:nvSpPr>
        <p:spPr>
          <a:xfrm>
            <a:off x="1428750" y="4076700"/>
            <a:ext cx="7524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그 </a:t>
            </a:r>
            <a:r>
              <a:rPr lang="ko-KR" altLang="en-US"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섹터</a:t>
            </a:r>
            <a:r>
              <a:rPr lang="en-US" altLang="ko-KR"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산업</a:t>
            </a:r>
            <a:r>
              <a:rPr lang="en-US" altLang="ko-KR"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)</a:t>
            </a:r>
            <a:r>
              <a:rPr sz="1575" b="1" dirty="0" err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에서</a:t>
            </a:r>
            <a:r>
              <a:rPr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1" dirty="0" err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재무적으로</a:t>
            </a:r>
            <a:r>
              <a:rPr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1" dirty="0" err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강한</a:t>
            </a:r>
            <a:r>
              <a:rPr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1" dirty="0" err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기업은</a:t>
            </a:r>
            <a:r>
              <a:rPr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1" dirty="0" err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무엇인가</a:t>
            </a:r>
            <a:r>
              <a:rPr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FD104E-5CBC-44C6-BD1F-064057247F16}"/>
              </a:ext>
            </a:extLst>
          </p:cNvPr>
          <p:cNvSpPr>
            <a:spLocks noGrp="1"/>
          </p:cNvSpPr>
          <p:nvPr/>
        </p:nvSpPr>
        <p:spPr>
          <a:xfrm>
            <a:off x="1428750" y="4419600"/>
            <a:ext cx="4191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 algn="l">
              <a:defRPr sz="10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Stock selection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A7E024-2762-4066-9375-F1D6E4F97184}"/>
              </a:ext>
            </a:extLst>
          </p:cNvPr>
          <p:cNvSpPr>
            <a:spLocks noGrp="1"/>
          </p:cNvSpPr>
          <p:nvPr/>
        </p:nvSpPr>
        <p:spPr>
          <a:xfrm>
            <a:off x="9144000" y="4343400"/>
            <a:ext cx="228600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245836E-C8DD-4678-813B-533D0085FD40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514350" cy="514350"/>
          </a:xfrm>
          <a:prstGeom prst="ellipse">
            <a:avLst/>
          </a:prstGeom>
          <a:solidFill>
            <a:srgbClr val="EF5B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51B702-18C3-4A61-924E-A8CBB9DE09EF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5143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BF9279-4FBF-4181-A8C7-67EE4833A5BA}"/>
              </a:ext>
            </a:extLst>
          </p:cNvPr>
          <p:cNvSpPr>
            <a:spLocks noGrp="1"/>
          </p:cNvSpPr>
          <p:nvPr/>
        </p:nvSpPr>
        <p:spPr>
          <a:xfrm>
            <a:off x="1428750" y="4972050"/>
            <a:ext cx="7524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dirty="0" err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언제</a:t>
            </a:r>
            <a:r>
              <a:rPr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1" dirty="0" err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사고</a:t>
            </a:r>
            <a:r>
              <a:rPr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1" dirty="0" err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언제</a:t>
            </a:r>
            <a:r>
              <a:rPr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팔</a:t>
            </a:r>
            <a:r>
              <a:rPr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75" b="1" dirty="0" err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것인가</a:t>
            </a:r>
            <a:r>
              <a:rPr sz="1575" b="1" dirty="0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722353-F20D-4035-BE85-36771E0367D6}"/>
              </a:ext>
            </a:extLst>
          </p:cNvPr>
          <p:cNvSpPr>
            <a:spLocks noGrp="1"/>
          </p:cNvSpPr>
          <p:nvPr/>
        </p:nvSpPr>
        <p:spPr>
          <a:xfrm>
            <a:off x="1428750" y="5314950"/>
            <a:ext cx="4191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 algn="l">
              <a:defRPr sz="10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Entry &amp; exit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8C6842-2A2E-4DB3-A484-72387AB8AC6A}"/>
              </a:ext>
            </a:extLst>
          </p:cNvPr>
          <p:cNvSpPr>
            <a:spLocks noGrp="1"/>
          </p:cNvSpPr>
          <p:nvPr/>
        </p:nvSpPr>
        <p:spPr>
          <a:xfrm>
            <a:off x="9144000" y="5238750"/>
            <a:ext cx="228600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F15B05-511E-428F-8BAF-52EEDACB4E5B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333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주식투자 분석 시스템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E8F29FD-4E4E-497E-88E7-A47AF6F9B771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288" lnSpcReduction="10000"/>
          </a:bodyPr>
          <a:lstStyle/>
          <a:p>
            <a:pPr algn="r">
              <a:defRPr sz="825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2176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9BFC2722-5F08-4BC6-8567-8AC87E967D60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525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5개 프로젝트가 만드는 투자 파이프라인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E37EEB-FFD4-409A-8CD1-5929A17E08DA}"/>
              </a:ext>
            </a:extLst>
          </p:cNvPr>
          <p:cNvSpPr>
            <a:spLocks noGrp="1"/>
          </p:cNvSpPr>
          <p:nvPr/>
        </p:nvSpPr>
        <p:spPr>
          <a:xfrm>
            <a:off x="590550" y="83820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앞 단계가 뒤 단계의 후보군과 위험 한도를 결정한다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A3B642C-A7DB-491F-8C7D-DEAF582BC303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2038350" cy="2400300"/>
          </a:xfrm>
          <a:prstGeom prst="roundRect">
            <a:avLst>
              <a:gd name="adj" fmla="val 3738"/>
            </a:avLst>
          </a:prstGeom>
          <a:solidFill>
            <a:srgbClr val="102945"/>
          </a:solidFill>
          <a:ln w="9525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5775D6-A94B-4BFA-BA5A-2EBC8D1CD25C}"/>
              </a:ext>
            </a:extLst>
          </p:cNvPr>
          <p:cNvSpPr>
            <a:spLocks noGrp="1"/>
          </p:cNvSpPr>
          <p:nvPr/>
        </p:nvSpPr>
        <p:spPr>
          <a:xfrm>
            <a:off x="571500" y="22479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350D4-D486-4303-888D-B684020E59ED}"/>
              </a:ext>
            </a:extLst>
          </p:cNvPr>
          <p:cNvSpPr>
            <a:spLocks noGrp="1"/>
          </p:cNvSpPr>
          <p:nvPr/>
        </p:nvSpPr>
        <p:spPr>
          <a:xfrm>
            <a:off x="571500" y="2724150"/>
            <a:ext cx="16954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yfinance-risk-analysis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B8D69-D5BF-49E4-B121-CD5C16E803D0}"/>
              </a:ext>
            </a:extLst>
          </p:cNvPr>
          <p:cNvSpPr>
            <a:spLocks noGrp="1"/>
          </p:cNvSpPr>
          <p:nvPr/>
        </p:nvSpPr>
        <p:spPr>
          <a:xfrm>
            <a:off x="571500" y="3505200"/>
            <a:ext cx="457200" cy="381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88A171-677C-421E-8774-8F502578CC5D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16954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시장 위험 온도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1F9716D-B9FD-497D-BF37-C7DC2291A88E}"/>
              </a:ext>
            </a:extLst>
          </p:cNvPr>
          <p:cNvSpPr>
            <a:spLocks noGrp="1"/>
          </p:cNvSpPr>
          <p:nvPr/>
        </p:nvSpPr>
        <p:spPr>
          <a:xfrm>
            <a:off x="2457450" y="3009900"/>
            <a:ext cx="266700" cy="476250"/>
          </a:xfrm>
          <a:prstGeom prst="rightArrow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346CED-D2E4-470E-B1A1-95224FD41CCE}"/>
              </a:ext>
            </a:extLst>
          </p:cNvPr>
          <p:cNvSpPr>
            <a:spLocks noGrp="1"/>
          </p:cNvSpPr>
          <p:nvPr/>
        </p:nvSpPr>
        <p:spPr>
          <a:xfrm>
            <a:off x="2752725" y="2076450"/>
            <a:ext cx="2038350" cy="2400300"/>
          </a:xfrm>
          <a:prstGeom prst="roundRect">
            <a:avLst>
              <a:gd name="adj" fmla="val 3738"/>
            </a:avLst>
          </a:prstGeom>
          <a:solidFill>
            <a:srgbClr val="102945"/>
          </a:solidFill>
          <a:ln w="9525">
            <a:solidFill>
              <a:srgbClr val="8B5C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8EED93-94A3-4CCC-ADF3-79E047558785}"/>
              </a:ext>
            </a:extLst>
          </p:cNvPr>
          <p:cNvSpPr>
            <a:spLocks noGrp="1"/>
          </p:cNvSpPr>
          <p:nvPr/>
        </p:nvSpPr>
        <p:spPr>
          <a:xfrm>
            <a:off x="2924175" y="22479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337BB9-779B-492F-AECB-BA96392DEEC4}"/>
              </a:ext>
            </a:extLst>
          </p:cNvPr>
          <p:cNvSpPr>
            <a:spLocks noGrp="1"/>
          </p:cNvSpPr>
          <p:nvPr/>
        </p:nvSpPr>
        <p:spPr>
          <a:xfrm>
            <a:off x="2924175" y="2724150"/>
            <a:ext cx="16954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institutional-flow-engine-python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554C15-9A5E-4BEC-B4CA-F439F3C0D6A2}"/>
              </a:ext>
            </a:extLst>
          </p:cNvPr>
          <p:cNvSpPr>
            <a:spLocks noGrp="1"/>
          </p:cNvSpPr>
          <p:nvPr/>
        </p:nvSpPr>
        <p:spPr>
          <a:xfrm>
            <a:off x="2924175" y="3505200"/>
            <a:ext cx="457200" cy="381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FA4653-1FF1-4BFC-8292-BA8D483543E7}"/>
              </a:ext>
            </a:extLst>
          </p:cNvPr>
          <p:cNvSpPr>
            <a:spLocks noGrp="1"/>
          </p:cNvSpPr>
          <p:nvPr/>
        </p:nvSpPr>
        <p:spPr>
          <a:xfrm>
            <a:off x="2924175" y="3714750"/>
            <a:ext cx="16954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섹터 자금 흐름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C01D4A5-634D-454A-8B4B-F9AB299B425D}"/>
              </a:ext>
            </a:extLst>
          </p:cNvPr>
          <p:cNvSpPr>
            <a:spLocks noGrp="1"/>
          </p:cNvSpPr>
          <p:nvPr/>
        </p:nvSpPr>
        <p:spPr>
          <a:xfrm>
            <a:off x="4810125" y="3009900"/>
            <a:ext cx="266700" cy="476250"/>
          </a:xfrm>
          <a:prstGeom prst="rightArrow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D28DAB3-F1A6-4263-B15C-D36BBE1B568C}"/>
              </a:ext>
            </a:extLst>
          </p:cNvPr>
          <p:cNvSpPr>
            <a:spLocks noGrp="1"/>
          </p:cNvSpPr>
          <p:nvPr/>
        </p:nvSpPr>
        <p:spPr>
          <a:xfrm>
            <a:off x="5105400" y="2076450"/>
            <a:ext cx="2038350" cy="2400300"/>
          </a:xfrm>
          <a:prstGeom prst="roundRect">
            <a:avLst>
              <a:gd name="adj" fmla="val 3738"/>
            </a:avLst>
          </a:prstGeom>
          <a:solidFill>
            <a:srgbClr val="102945"/>
          </a:solidFill>
          <a:ln w="9525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D62F59-F6CE-4DF3-9B24-B6ACF34069B1}"/>
              </a:ext>
            </a:extLst>
          </p:cNvPr>
          <p:cNvSpPr>
            <a:spLocks noGrp="1"/>
          </p:cNvSpPr>
          <p:nvPr/>
        </p:nvSpPr>
        <p:spPr>
          <a:xfrm>
            <a:off x="5276850" y="22479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A2B500-AE8F-4021-9DD1-1E219DDA3507}"/>
              </a:ext>
            </a:extLst>
          </p:cNvPr>
          <p:cNvSpPr>
            <a:spLocks noGrp="1"/>
          </p:cNvSpPr>
          <p:nvPr/>
        </p:nvSpPr>
        <p:spPr>
          <a:xfrm>
            <a:off x="5276850" y="2724150"/>
            <a:ext cx="16954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data-center-earnings-agent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8E62E0-83C0-4E1E-8AA4-BDBBC749EE62}"/>
              </a:ext>
            </a:extLst>
          </p:cNvPr>
          <p:cNvSpPr>
            <a:spLocks noGrp="1"/>
          </p:cNvSpPr>
          <p:nvPr/>
        </p:nvSpPr>
        <p:spPr>
          <a:xfrm>
            <a:off x="5276850" y="3505200"/>
            <a:ext cx="457200" cy="381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1D62FD-72CF-49A9-A051-5A6124CA343A}"/>
              </a:ext>
            </a:extLst>
          </p:cNvPr>
          <p:cNvSpPr>
            <a:spLocks noGrp="1"/>
          </p:cNvSpPr>
          <p:nvPr/>
        </p:nvSpPr>
        <p:spPr>
          <a:xfrm>
            <a:off x="5276850" y="3714750"/>
            <a:ext cx="16954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1200" b="1" dirty="0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AI </a:t>
            </a:r>
            <a:r>
              <a:rPr sz="1200" b="1" dirty="0" err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수요</a:t>
            </a:r>
            <a:r>
              <a:rPr lang="en-US" sz="1200" b="1" dirty="0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200" b="1" dirty="0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및 수익</a:t>
            </a:r>
            <a:r>
              <a:rPr sz="1200" b="1" dirty="0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검증</a:t>
            </a:r>
            <a:endParaRPr sz="1200" b="1" dirty="0">
              <a:solidFill>
                <a:srgbClr val="C4D4E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29803F8-FC9F-4ACC-925A-A8BC4E400797}"/>
              </a:ext>
            </a:extLst>
          </p:cNvPr>
          <p:cNvSpPr>
            <a:spLocks noGrp="1"/>
          </p:cNvSpPr>
          <p:nvPr/>
        </p:nvSpPr>
        <p:spPr>
          <a:xfrm>
            <a:off x="7162800" y="3009900"/>
            <a:ext cx="266700" cy="476250"/>
          </a:xfrm>
          <a:prstGeom prst="rightArrow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160F49D-EFE2-405B-BFBF-6A7A0CBA049A}"/>
              </a:ext>
            </a:extLst>
          </p:cNvPr>
          <p:cNvSpPr>
            <a:spLocks noGrp="1"/>
          </p:cNvSpPr>
          <p:nvPr/>
        </p:nvSpPr>
        <p:spPr>
          <a:xfrm>
            <a:off x="7458075" y="2076450"/>
            <a:ext cx="2038350" cy="2400300"/>
          </a:xfrm>
          <a:prstGeom prst="roundRect">
            <a:avLst>
              <a:gd name="adj" fmla="val 3738"/>
            </a:avLst>
          </a:prstGeom>
          <a:solidFill>
            <a:srgbClr val="102945"/>
          </a:solidFill>
          <a:ln w="9525">
            <a:solidFill>
              <a:srgbClr val="23B26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E4C7A9-CFA2-4F68-9018-60FFBE39B645}"/>
              </a:ext>
            </a:extLst>
          </p:cNvPr>
          <p:cNvSpPr>
            <a:spLocks noGrp="1"/>
          </p:cNvSpPr>
          <p:nvPr/>
        </p:nvSpPr>
        <p:spPr>
          <a:xfrm>
            <a:off x="7629525" y="22479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776CC6-0794-4E67-AFB3-267C3AB9155C}"/>
              </a:ext>
            </a:extLst>
          </p:cNvPr>
          <p:cNvSpPr>
            <a:spLocks noGrp="1"/>
          </p:cNvSpPr>
          <p:nvPr/>
        </p:nvSpPr>
        <p:spPr>
          <a:xfrm>
            <a:off x="7629525" y="2724150"/>
            <a:ext cx="16954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realtime-financials-mock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12B724-5339-40E2-BA16-6F0B1AD0B9B8}"/>
              </a:ext>
            </a:extLst>
          </p:cNvPr>
          <p:cNvSpPr>
            <a:spLocks noGrp="1"/>
          </p:cNvSpPr>
          <p:nvPr/>
        </p:nvSpPr>
        <p:spPr>
          <a:xfrm>
            <a:off x="7629525" y="3505200"/>
            <a:ext cx="457200" cy="38100"/>
          </a:xfrm>
          <a:prstGeom prst="rect">
            <a:avLst/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FA26F9-4FE7-4A77-B835-FDD32B3EE7D6}"/>
              </a:ext>
            </a:extLst>
          </p:cNvPr>
          <p:cNvSpPr>
            <a:spLocks noGrp="1"/>
          </p:cNvSpPr>
          <p:nvPr/>
        </p:nvSpPr>
        <p:spPr>
          <a:xfrm>
            <a:off x="7629525" y="3714750"/>
            <a:ext cx="16954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200" b="1" dirty="0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주식</a:t>
            </a:r>
            <a:r>
              <a:rPr sz="1200" b="1" dirty="0" err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종목</a:t>
            </a:r>
            <a:r>
              <a:rPr lang="ko-KR" altLang="en-US" sz="1200" b="1" dirty="0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의 우수성</a:t>
            </a:r>
            <a:r>
              <a:rPr sz="1200" b="1" dirty="0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 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10297B01-7271-4D3A-A9B7-0FF56BC5BE4B}"/>
              </a:ext>
            </a:extLst>
          </p:cNvPr>
          <p:cNvSpPr>
            <a:spLocks noGrp="1"/>
          </p:cNvSpPr>
          <p:nvPr/>
        </p:nvSpPr>
        <p:spPr>
          <a:xfrm>
            <a:off x="9515475" y="3009900"/>
            <a:ext cx="266700" cy="476250"/>
          </a:xfrm>
          <a:prstGeom prst="rightArrow">
            <a:avLst/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DA6314F-C3AF-4182-8673-D9BE74CE48D6}"/>
              </a:ext>
            </a:extLst>
          </p:cNvPr>
          <p:cNvSpPr>
            <a:spLocks noGrp="1"/>
          </p:cNvSpPr>
          <p:nvPr/>
        </p:nvSpPr>
        <p:spPr>
          <a:xfrm>
            <a:off x="9810750" y="2076450"/>
            <a:ext cx="2038350" cy="2400300"/>
          </a:xfrm>
          <a:prstGeom prst="roundRect">
            <a:avLst>
              <a:gd name="adj" fmla="val 3738"/>
            </a:avLst>
          </a:prstGeom>
          <a:solidFill>
            <a:srgbClr val="102945"/>
          </a:solidFill>
          <a:ln w="9525">
            <a:solidFill>
              <a:srgbClr val="EF5B5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DFC586-49C5-4A93-82E5-EEE320A37385}"/>
              </a:ext>
            </a:extLst>
          </p:cNvPr>
          <p:cNvSpPr>
            <a:spLocks noGrp="1"/>
          </p:cNvSpPr>
          <p:nvPr/>
        </p:nvSpPr>
        <p:spPr>
          <a:xfrm>
            <a:off x="9982200" y="22479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FACA74-9246-4005-BFFE-B4CA8BEC7576}"/>
              </a:ext>
            </a:extLst>
          </p:cNvPr>
          <p:cNvSpPr>
            <a:spLocks noGrp="1"/>
          </p:cNvSpPr>
          <p:nvPr/>
        </p:nvSpPr>
        <p:spPr>
          <a:xfrm>
            <a:off x="9982200" y="2724150"/>
            <a:ext cx="16954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hantu-kis-trading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64B3CB-4B50-40C2-821B-87F5DA746C2F}"/>
              </a:ext>
            </a:extLst>
          </p:cNvPr>
          <p:cNvSpPr>
            <a:spLocks noGrp="1"/>
          </p:cNvSpPr>
          <p:nvPr/>
        </p:nvSpPr>
        <p:spPr>
          <a:xfrm>
            <a:off x="9982200" y="3505200"/>
            <a:ext cx="457200" cy="38100"/>
          </a:xfrm>
          <a:prstGeom prst="rect">
            <a:avLst/>
          </a:prstGeom>
          <a:solidFill>
            <a:srgbClr val="EF5B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F91756-C5EB-4671-86C4-B2933918AEDF}"/>
              </a:ext>
            </a:extLst>
          </p:cNvPr>
          <p:cNvSpPr>
            <a:spLocks noGrp="1"/>
          </p:cNvSpPr>
          <p:nvPr/>
        </p:nvSpPr>
        <p:spPr>
          <a:xfrm>
            <a:off x="9982200" y="3714750"/>
            <a:ext cx="16954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주문 타이밍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579EFB5-475B-4037-8FA8-84A92C4C2DB5}"/>
              </a:ext>
            </a:extLst>
          </p:cNvPr>
          <p:cNvSpPr>
            <a:spLocks noGrp="1"/>
          </p:cNvSpPr>
          <p:nvPr/>
        </p:nvSpPr>
        <p:spPr>
          <a:xfrm>
            <a:off x="666750" y="506730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위험예산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E7F069F-9350-43AC-AD11-F08347B5E804}"/>
              </a:ext>
            </a:extLst>
          </p:cNvPr>
          <p:cNvSpPr>
            <a:spLocks noGrp="1"/>
          </p:cNvSpPr>
          <p:nvPr/>
        </p:nvSpPr>
        <p:spPr>
          <a:xfrm>
            <a:off x="3009900" y="506730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투자 우선순위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6470B1-6D1E-4A8B-A478-A2ED3E371559}"/>
              </a:ext>
            </a:extLst>
          </p:cNvPr>
          <p:cNvSpPr>
            <a:spLocks noGrp="1"/>
          </p:cNvSpPr>
          <p:nvPr/>
        </p:nvSpPr>
        <p:spPr>
          <a:xfrm>
            <a:off x="5372100" y="506730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실적 확신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DB6A804-3910-4F60-9DA8-3DC4CACCB1BA}"/>
              </a:ext>
            </a:extLst>
          </p:cNvPr>
          <p:cNvSpPr>
            <a:spLocks noGrp="1"/>
          </p:cNvSpPr>
          <p:nvPr/>
        </p:nvSpPr>
        <p:spPr>
          <a:xfrm>
            <a:off x="7715250" y="506730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후보 점수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36F08A-9925-4B97-AC2B-E9637BD698E3}"/>
              </a:ext>
            </a:extLst>
          </p:cNvPr>
          <p:cNvSpPr>
            <a:spLocks noGrp="1"/>
          </p:cNvSpPr>
          <p:nvPr/>
        </p:nvSpPr>
        <p:spPr>
          <a:xfrm>
            <a:off x="10058400" y="506730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매수·매도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D404DC-7ED0-404E-A042-38E95BD68041}"/>
              </a:ext>
            </a:extLst>
          </p:cNvPr>
          <p:cNvSpPr>
            <a:spLocks noGrp="1"/>
          </p:cNvSpPr>
          <p:nvPr/>
        </p:nvSpPr>
        <p:spPr>
          <a:xfrm>
            <a:off x="571500" y="6019800"/>
            <a:ext cx="723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l">
              <a:defRPr sz="13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출력은 다음 프로그램의 입력으로 이어진다</a:t>
            </a:r>
          </a:p>
        </p:txBody>
      </p:sp>
    </p:spTree>
    <p:extLst>
      <p:ext uri="{BB962C8B-B14F-4D97-AF65-F5344CB8AC3E}">
        <p14:creationId xmlns:p14="http://schemas.microsoft.com/office/powerpoint/2010/main" val="78695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7374FEE-CC82-4B3C-86FB-107A378830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5BF1D9-01EA-4724-B872-523B5204422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1단계: 금융시장의 위험 온도를 측정한다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E62A6F-BFEE-4ECA-B3F7-2E1DCCA0287C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1009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yfinance-risk-analysis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768185-39B3-4A26-B8F0-C3DDA11E4062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609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BE98E4-F2FE-4C00-B385-5F94176B34B3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671FA-E295-4084-9602-6CC93D10DAB7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66675" cy="17145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BA0E5D-69AC-4595-8361-292309FC082A}"/>
              </a:ext>
            </a:extLst>
          </p:cNvPr>
          <p:cNvSpPr>
            <a:spLocks noGrp="1"/>
          </p:cNvSpPr>
          <p:nvPr/>
        </p:nvSpPr>
        <p:spPr>
          <a:xfrm>
            <a:off x="819150" y="1638300"/>
            <a:ext cx="47244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변동성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75F855-31EE-4841-AAA4-6BF0BFDF6BC6}"/>
              </a:ext>
            </a:extLst>
          </p:cNvPr>
          <p:cNvSpPr>
            <a:spLocks noGrp="1"/>
          </p:cNvSpPr>
          <p:nvPr/>
        </p:nvSpPr>
        <p:spPr>
          <a:xfrm>
            <a:off x="819150" y="2095500"/>
            <a:ext cx="47244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VIX·VXN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시장이 요구하는 단기 위험 프리미엄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4257DE-721B-430C-B692-E4E97BF77745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03CB08-E859-427C-B3D8-2E2A271FBAF2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66675" cy="1714500"/>
          </a:xfrm>
          <a:prstGeom prst="rect">
            <a:avLst/>
          </a:prstGeom>
          <a:solidFill>
            <a:srgbClr val="19A7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EA9F68-C9B9-4DC9-BC35-95E23D614700}"/>
              </a:ext>
            </a:extLst>
          </p:cNvPr>
          <p:cNvSpPr>
            <a:spLocks noGrp="1"/>
          </p:cNvSpPr>
          <p:nvPr/>
        </p:nvSpPr>
        <p:spPr>
          <a:xfrm>
            <a:off x="6400800" y="1638300"/>
            <a:ext cx="47244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유동성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E4651F-89F9-4590-9308-9A150940EA6B}"/>
              </a:ext>
            </a:extLst>
          </p:cNvPr>
          <p:cNvSpPr>
            <a:spLocks noGrp="1"/>
          </p:cNvSpPr>
          <p:nvPr/>
        </p:nvSpPr>
        <p:spPr>
          <a:xfrm>
            <a:off x="6400800" y="2095500"/>
            <a:ext cx="47244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달러·국채·금융여건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위험자산으로 들어갈 돈의 여유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C2F23D5-2ADB-47E4-A4DB-F2D34D632494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BCAD3A-8273-491B-9B26-BA6CBADDFFC4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66675" cy="17145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3D66FD-6B74-4E17-A8E0-420E693CF40D}"/>
              </a:ext>
            </a:extLst>
          </p:cNvPr>
          <p:cNvSpPr>
            <a:spLocks noGrp="1"/>
          </p:cNvSpPr>
          <p:nvPr/>
        </p:nvSpPr>
        <p:spPr>
          <a:xfrm>
            <a:off x="819150" y="3733800"/>
            <a:ext cx="47244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신용경색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27858B-3135-440C-B28E-14F007FCFE64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47244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HY OAS·HYG/LQD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기업 신용시장의 스트레스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591BDF-0A84-49FC-93FE-D3A4BB326D0C}"/>
              </a:ext>
            </a:extLst>
          </p:cNvPr>
          <p:cNvSpPr>
            <a:spLocks noGrp="1"/>
          </p:cNvSpPr>
          <p:nvPr/>
        </p:nvSpPr>
        <p:spPr>
          <a:xfrm>
            <a:off x="6191250" y="352425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6FBD52-4E8D-431E-AED5-2187A0D137C0}"/>
              </a:ext>
            </a:extLst>
          </p:cNvPr>
          <p:cNvSpPr>
            <a:spLocks noGrp="1"/>
          </p:cNvSpPr>
          <p:nvPr/>
        </p:nvSpPr>
        <p:spPr>
          <a:xfrm>
            <a:off x="6191250" y="3524250"/>
            <a:ext cx="66675" cy="1714500"/>
          </a:xfrm>
          <a:prstGeom prst="rect">
            <a:avLst/>
          </a:prstGeom>
          <a:solidFill>
            <a:srgbClr val="EF5B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EC08A9-4B93-4ABF-8E37-80B04C24C37D}"/>
              </a:ext>
            </a:extLst>
          </p:cNvPr>
          <p:cNvSpPr>
            <a:spLocks noGrp="1"/>
          </p:cNvSpPr>
          <p:nvPr/>
        </p:nvSpPr>
        <p:spPr>
          <a:xfrm>
            <a:off x="6400800" y="3733800"/>
            <a:ext cx="47244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글로벌 리스크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AE20C3-1AF9-4CE9-AF1B-0C1EC31FB8E1}"/>
              </a:ext>
            </a:extLst>
          </p:cNvPr>
          <p:cNvSpPr>
            <a:spLocks noGrp="1"/>
          </p:cNvSpPr>
          <p:nvPr/>
        </p:nvSpPr>
        <p:spPr>
          <a:xfrm>
            <a:off x="6400800" y="4191000"/>
            <a:ext cx="47244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UUP·EEM·금리차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달러 강세와 해외 위험 선호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9162DC1-7D0C-48C4-B659-13DD385B6C24}"/>
              </a:ext>
            </a:extLst>
          </p:cNvPr>
          <p:cNvSpPr>
            <a:spLocks noGrp="1"/>
          </p:cNvSpPr>
          <p:nvPr/>
        </p:nvSpPr>
        <p:spPr>
          <a:xfrm>
            <a:off x="6667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E58207-88F4-48F4-9F91-20E49DD5ED8A}"/>
              </a:ext>
            </a:extLst>
          </p:cNvPr>
          <p:cNvSpPr>
            <a:spLocks noGrp="1"/>
          </p:cNvSpPr>
          <p:nvPr/>
        </p:nvSpPr>
        <p:spPr>
          <a:xfrm>
            <a:off x="7048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C7FB1FB-CA90-4F58-9655-D22907F194AD}"/>
              </a:ext>
            </a:extLst>
          </p:cNvPr>
          <p:cNvSpPr>
            <a:spLocks noGrp="1"/>
          </p:cNvSpPr>
          <p:nvPr/>
        </p:nvSpPr>
        <p:spPr>
          <a:xfrm>
            <a:off x="29146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DAD748-47E4-497A-8EDD-30AFD6DF6C07}"/>
              </a:ext>
            </a:extLst>
          </p:cNvPr>
          <p:cNvSpPr>
            <a:spLocks noGrp="1"/>
          </p:cNvSpPr>
          <p:nvPr/>
        </p:nvSpPr>
        <p:spPr>
          <a:xfrm>
            <a:off x="29527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756A9A0-0336-4929-8B66-21E4A074733B}"/>
              </a:ext>
            </a:extLst>
          </p:cNvPr>
          <p:cNvSpPr>
            <a:spLocks noGrp="1"/>
          </p:cNvSpPr>
          <p:nvPr/>
        </p:nvSpPr>
        <p:spPr>
          <a:xfrm>
            <a:off x="51625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072D28-74A2-4E95-8B8E-FF615DFB1706}"/>
              </a:ext>
            </a:extLst>
          </p:cNvPr>
          <p:cNvSpPr>
            <a:spLocks noGrp="1"/>
          </p:cNvSpPr>
          <p:nvPr/>
        </p:nvSpPr>
        <p:spPr>
          <a:xfrm>
            <a:off x="52006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C7C2704-35E7-4CA0-BD3D-A22066490145}"/>
              </a:ext>
            </a:extLst>
          </p:cNvPr>
          <p:cNvSpPr>
            <a:spLocks noGrp="1"/>
          </p:cNvSpPr>
          <p:nvPr/>
        </p:nvSpPr>
        <p:spPr>
          <a:xfrm>
            <a:off x="74104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7507ED-EDA6-4422-ADA6-CB8078ABECFF}"/>
              </a:ext>
            </a:extLst>
          </p:cNvPr>
          <p:cNvSpPr>
            <a:spLocks noGrp="1"/>
          </p:cNvSpPr>
          <p:nvPr/>
        </p:nvSpPr>
        <p:spPr>
          <a:xfrm>
            <a:off x="74485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0ACC07B-454D-432F-AB46-E1D129F08FB0}"/>
              </a:ext>
            </a:extLst>
          </p:cNvPr>
          <p:cNvSpPr>
            <a:spLocks noGrp="1"/>
          </p:cNvSpPr>
          <p:nvPr/>
        </p:nvSpPr>
        <p:spPr>
          <a:xfrm>
            <a:off x="96583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49CDF1-DF56-40DD-B029-ECF2B7E0D891}"/>
              </a:ext>
            </a:extLst>
          </p:cNvPr>
          <p:cNvSpPr>
            <a:spLocks noGrp="1"/>
          </p:cNvSpPr>
          <p:nvPr/>
        </p:nvSpPr>
        <p:spPr>
          <a:xfrm>
            <a:off x="96964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2060088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EB05996-101F-442A-A649-BE55407CCC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9127C3-3A0C-46EB-8431-ECCB2113C53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Macro 신호는 투자 비중과 행동을 바꾼다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E94409-F213-4E42-866E-4F9753BEC693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1009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단일 지표보다 여러 시장의 동시 악화를 본다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29E4F7-4B58-49FE-8E86-A4E4D3A711D5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609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A90BC2-0FF8-4BDF-88A8-2FE92EDA4424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23B26D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정상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9CC85F-26B6-4414-86EA-8C5B7F3A9979}"/>
              </a:ext>
            </a:extLst>
          </p:cNvPr>
          <p:cNvSpPr>
            <a:spLocks noGrp="1"/>
          </p:cNvSpPr>
          <p:nvPr/>
        </p:nvSpPr>
        <p:spPr>
          <a:xfrm>
            <a:off x="1885950" y="1524000"/>
            <a:ext cx="5048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변동성 안정, HY OAS 낮음, 금융여건 완화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D4DE668-06FF-4E4E-97DC-778CC9D55B2D}"/>
              </a:ext>
            </a:extLst>
          </p:cNvPr>
          <p:cNvSpPr>
            <a:spLocks noGrp="1"/>
          </p:cNvSpPr>
          <p:nvPr/>
        </p:nvSpPr>
        <p:spPr>
          <a:xfrm>
            <a:off x="7105650" y="1695450"/>
            <a:ext cx="495300" cy="400050"/>
          </a:xfrm>
          <a:prstGeom prst="rightArrow">
            <a:avLst/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F8303-4951-4735-8F7C-86D48D5016A3}"/>
              </a:ext>
            </a:extLst>
          </p:cNvPr>
          <p:cNvSpPr>
            <a:spLocks noGrp="1"/>
          </p:cNvSpPr>
          <p:nvPr/>
        </p:nvSpPr>
        <p:spPr>
          <a:xfrm>
            <a:off x="7867650" y="1524000"/>
            <a:ext cx="3524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위험자산 비중 유지 또는 확대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EACE65-6EA4-4076-A23D-E5E13591E3E1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주의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215EDA-1E1B-426E-A921-BB26CE7096D4}"/>
              </a:ext>
            </a:extLst>
          </p:cNvPr>
          <p:cNvSpPr>
            <a:spLocks noGrp="1"/>
          </p:cNvSpPr>
          <p:nvPr/>
        </p:nvSpPr>
        <p:spPr>
          <a:xfrm>
            <a:off x="1885950" y="2819400"/>
            <a:ext cx="5048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VIX 상승, 달러 강세, 신용 스프레드 확대 시작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BD13A80-F1B4-4C8F-ADE7-B3C7EA00C8A2}"/>
              </a:ext>
            </a:extLst>
          </p:cNvPr>
          <p:cNvSpPr>
            <a:spLocks noGrp="1"/>
          </p:cNvSpPr>
          <p:nvPr/>
        </p:nvSpPr>
        <p:spPr>
          <a:xfrm>
            <a:off x="7105650" y="2990850"/>
            <a:ext cx="495300" cy="400050"/>
          </a:xfrm>
          <a:prstGeom prst="rightArrow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56F61A-769F-496E-B076-8176DBDEDD9F}"/>
              </a:ext>
            </a:extLst>
          </p:cNvPr>
          <p:cNvSpPr>
            <a:spLocks noGrp="1"/>
          </p:cNvSpPr>
          <p:nvPr/>
        </p:nvSpPr>
        <p:spPr>
          <a:xfrm>
            <a:off x="7867650" y="2819400"/>
            <a:ext cx="3524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신규 매수 속도 축소, 현금 비중 점검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C917BB4-2012-4886-A082-F7DBAF9AFD0B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EF5B5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위험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0E5F9F-C41A-4913-BC2C-A531A7A41D81}"/>
              </a:ext>
            </a:extLst>
          </p:cNvPr>
          <p:cNvSpPr>
            <a:spLocks noGrp="1"/>
          </p:cNvSpPr>
          <p:nvPr/>
        </p:nvSpPr>
        <p:spPr>
          <a:xfrm>
            <a:off x="1885950" y="4114800"/>
            <a:ext cx="5048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변동성·신용·유동성이 함께 악화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E17F7E8-81CD-4D6D-81AF-5B2C2DE74254}"/>
              </a:ext>
            </a:extLst>
          </p:cNvPr>
          <p:cNvSpPr>
            <a:spLocks noGrp="1"/>
          </p:cNvSpPr>
          <p:nvPr/>
        </p:nvSpPr>
        <p:spPr>
          <a:xfrm>
            <a:off x="7105650" y="4286250"/>
            <a:ext cx="495300" cy="400050"/>
          </a:xfrm>
          <a:prstGeom prst="rightArrow">
            <a:avLst/>
          </a:prstGeom>
          <a:solidFill>
            <a:srgbClr val="EF5B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A0A98C-C963-4254-8BDA-67707E395F10}"/>
              </a:ext>
            </a:extLst>
          </p:cNvPr>
          <p:cNvSpPr>
            <a:spLocks noGrp="1"/>
          </p:cNvSpPr>
          <p:nvPr/>
        </p:nvSpPr>
        <p:spPr>
          <a:xfrm>
            <a:off x="7867650" y="4114800"/>
            <a:ext cx="3524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포지션 축소, 레버리지 억제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056FD9-DFCA-485D-8E82-3F2809057EC0}"/>
              </a:ext>
            </a:extLst>
          </p:cNvPr>
          <p:cNvSpPr>
            <a:spLocks noGrp="1"/>
          </p:cNvSpPr>
          <p:nvPr/>
        </p:nvSpPr>
        <p:spPr>
          <a:xfrm>
            <a:off x="666750" y="5476875"/>
            <a:ext cx="10715625" cy="419100"/>
          </a:xfrm>
          <a:prstGeom prst="roundRect">
            <a:avLst>
              <a:gd name="adj" fmla="val 18182"/>
            </a:avLst>
          </a:prstGeom>
          <a:solidFill>
            <a:srgbClr val="EAF2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EC41E4-9E4B-4799-BA07-B34FFC678247}"/>
              </a:ext>
            </a:extLst>
          </p:cNvPr>
          <p:cNvSpPr>
            <a:spLocks noGrp="1"/>
          </p:cNvSpPr>
          <p:nvPr/>
        </p:nvSpPr>
        <p:spPr>
          <a:xfrm>
            <a:off x="819150" y="551497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핵심 출력: Risk-on / Neutral / Risk-off + 허용 가능한 투자 비중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BB2D0DE-E431-47F6-BB36-91C38B88A027}"/>
              </a:ext>
            </a:extLst>
          </p:cNvPr>
          <p:cNvSpPr>
            <a:spLocks noGrp="1"/>
          </p:cNvSpPr>
          <p:nvPr/>
        </p:nvSpPr>
        <p:spPr>
          <a:xfrm>
            <a:off x="6667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BE44D8-1181-4676-958E-F2AEABC20FC6}"/>
              </a:ext>
            </a:extLst>
          </p:cNvPr>
          <p:cNvSpPr>
            <a:spLocks noGrp="1"/>
          </p:cNvSpPr>
          <p:nvPr/>
        </p:nvSpPr>
        <p:spPr>
          <a:xfrm>
            <a:off x="7048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C50463-291A-46DA-BF95-E4EBB258034C}"/>
              </a:ext>
            </a:extLst>
          </p:cNvPr>
          <p:cNvSpPr>
            <a:spLocks noGrp="1"/>
          </p:cNvSpPr>
          <p:nvPr/>
        </p:nvSpPr>
        <p:spPr>
          <a:xfrm>
            <a:off x="29146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C70AB6-4424-479A-9DAC-DB7B67E8BBC4}"/>
              </a:ext>
            </a:extLst>
          </p:cNvPr>
          <p:cNvSpPr>
            <a:spLocks noGrp="1"/>
          </p:cNvSpPr>
          <p:nvPr/>
        </p:nvSpPr>
        <p:spPr>
          <a:xfrm>
            <a:off x="29527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FA5897D-5977-45AC-99FA-DAE3CB84230E}"/>
              </a:ext>
            </a:extLst>
          </p:cNvPr>
          <p:cNvSpPr>
            <a:spLocks noGrp="1"/>
          </p:cNvSpPr>
          <p:nvPr/>
        </p:nvSpPr>
        <p:spPr>
          <a:xfrm>
            <a:off x="51625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695E37-3448-45F0-9213-BA8A3C75A77E}"/>
              </a:ext>
            </a:extLst>
          </p:cNvPr>
          <p:cNvSpPr>
            <a:spLocks noGrp="1"/>
          </p:cNvSpPr>
          <p:nvPr/>
        </p:nvSpPr>
        <p:spPr>
          <a:xfrm>
            <a:off x="52006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31B3D9D-43CB-4B88-9002-FC9AD7C4D901}"/>
              </a:ext>
            </a:extLst>
          </p:cNvPr>
          <p:cNvSpPr>
            <a:spLocks noGrp="1"/>
          </p:cNvSpPr>
          <p:nvPr/>
        </p:nvSpPr>
        <p:spPr>
          <a:xfrm>
            <a:off x="74104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491E30-E084-483F-926A-4A3E7A4C943F}"/>
              </a:ext>
            </a:extLst>
          </p:cNvPr>
          <p:cNvSpPr>
            <a:spLocks noGrp="1"/>
          </p:cNvSpPr>
          <p:nvPr/>
        </p:nvSpPr>
        <p:spPr>
          <a:xfrm>
            <a:off x="74485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D73C8FD-D7D6-4BB4-A2DF-5DE56862442F}"/>
              </a:ext>
            </a:extLst>
          </p:cNvPr>
          <p:cNvSpPr>
            <a:spLocks noGrp="1"/>
          </p:cNvSpPr>
          <p:nvPr/>
        </p:nvSpPr>
        <p:spPr>
          <a:xfrm>
            <a:off x="96583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87C7B8-02F1-4295-9DFE-1A21C06E41ED}"/>
              </a:ext>
            </a:extLst>
          </p:cNvPr>
          <p:cNvSpPr>
            <a:spLocks noGrp="1"/>
          </p:cNvSpPr>
          <p:nvPr/>
        </p:nvSpPr>
        <p:spPr>
          <a:xfrm>
            <a:off x="96964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132523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608720B-C9F4-4F4A-A5F3-9AA16D2E20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6D7F19-BD40-4910-A764-55283648EE50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2단계: 기관 자금이 향하는 섹터를 찾는다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773EC8-62F9-4F81-9217-DB1B0CA5F3B2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1009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institutional-flow-engine-python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7769FF-A1A3-4FC3-831F-259E25223249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609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4D650D-29B1-4986-B5B7-D31FC63F4098}"/>
              </a:ext>
            </a:extLst>
          </p:cNvPr>
          <p:cNvSpPr>
            <a:spLocks noGrp="1"/>
          </p:cNvSpPr>
          <p:nvPr/>
        </p:nvSpPr>
        <p:spPr>
          <a:xfrm>
            <a:off x="457200" y="1685925"/>
            <a:ext cx="2076450" cy="257175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A56BB8-18C8-4495-8E6A-40800DBE88D2}"/>
              </a:ext>
            </a:extLst>
          </p:cNvPr>
          <p:cNvSpPr>
            <a:spLocks noGrp="1"/>
          </p:cNvSpPr>
          <p:nvPr/>
        </p:nvSpPr>
        <p:spPr>
          <a:xfrm>
            <a:off x="1114425" y="1924050"/>
            <a:ext cx="762000" cy="762000"/>
          </a:xfrm>
          <a:prstGeom prst="ellipse">
            <a:avLst/>
          </a:prstGeom>
          <a:solidFill>
            <a:srgbClr val="E9E2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BB1A0A-AF60-4CE4-980E-19E098C912EA}"/>
              </a:ext>
            </a:extLst>
          </p:cNvPr>
          <p:cNvSpPr>
            <a:spLocks noGrp="1"/>
          </p:cNvSpPr>
          <p:nvPr/>
        </p:nvSpPr>
        <p:spPr>
          <a:xfrm>
            <a:off x="1114425" y="2085975"/>
            <a:ext cx="762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D3E784-9959-4277-8A62-8A507BDCC290}"/>
              </a:ext>
            </a:extLst>
          </p:cNvPr>
          <p:cNvSpPr>
            <a:spLocks noGrp="1"/>
          </p:cNvSpPr>
          <p:nvPr/>
        </p:nvSpPr>
        <p:spPr>
          <a:xfrm>
            <a:off x="628650" y="29146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Semiconductor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8A6A56-1524-4368-8B64-467853C60D77}"/>
              </a:ext>
            </a:extLst>
          </p:cNvPr>
          <p:cNvSpPr>
            <a:spLocks noGrp="1"/>
          </p:cNvSpPr>
          <p:nvPr/>
        </p:nvSpPr>
        <p:spPr>
          <a:xfrm>
            <a:off x="647700" y="3467100"/>
            <a:ext cx="16954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AI 가속기·HBM·네트워크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9DE9C9-CA37-4FF2-9649-064AF2BF308D}"/>
              </a:ext>
            </a:extLst>
          </p:cNvPr>
          <p:cNvSpPr>
            <a:spLocks noGrp="1"/>
          </p:cNvSpPr>
          <p:nvPr/>
        </p:nvSpPr>
        <p:spPr>
          <a:xfrm>
            <a:off x="2800350" y="1685925"/>
            <a:ext cx="2076450" cy="257175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A76E40-312C-4337-A45F-CCC5535A8EE6}"/>
              </a:ext>
            </a:extLst>
          </p:cNvPr>
          <p:cNvSpPr>
            <a:spLocks noGrp="1"/>
          </p:cNvSpPr>
          <p:nvPr/>
        </p:nvSpPr>
        <p:spPr>
          <a:xfrm>
            <a:off x="3457575" y="1924050"/>
            <a:ext cx="762000" cy="762000"/>
          </a:xfrm>
          <a:prstGeom prst="ellipse">
            <a:avLst/>
          </a:prstGeom>
          <a:solidFill>
            <a:srgbClr val="E9E2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CCFAFC-BF18-411F-B642-6AF37E6D5828}"/>
              </a:ext>
            </a:extLst>
          </p:cNvPr>
          <p:cNvSpPr>
            <a:spLocks noGrp="1"/>
          </p:cNvSpPr>
          <p:nvPr/>
        </p:nvSpPr>
        <p:spPr>
          <a:xfrm>
            <a:off x="3457575" y="2085975"/>
            <a:ext cx="762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70FFFD-78EA-4648-B3C2-939F4981EC54}"/>
              </a:ext>
            </a:extLst>
          </p:cNvPr>
          <p:cNvSpPr>
            <a:spLocks noGrp="1"/>
          </p:cNvSpPr>
          <p:nvPr/>
        </p:nvSpPr>
        <p:spPr>
          <a:xfrm>
            <a:off x="2971800" y="29146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Data Center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ACAF56-2CA0-4F6E-834A-0F08843B0EC8}"/>
              </a:ext>
            </a:extLst>
          </p:cNvPr>
          <p:cNvSpPr>
            <a:spLocks noGrp="1"/>
          </p:cNvSpPr>
          <p:nvPr/>
        </p:nvSpPr>
        <p:spPr>
          <a:xfrm>
            <a:off x="2990850" y="3467100"/>
            <a:ext cx="16954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전력·냉각·서버·건설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76B8AB-9ED4-4F43-AA68-B861452D151E}"/>
              </a:ext>
            </a:extLst>
          </p:cNvPr>
          <p:cNvSpPr>
            <a:spLocks noGrp="1"/>
          </p:cNvSpPr>
          <p:nvPr/>
        </p:nvSpPr>
        <p:spPr>
          <a:xfrm>
            <a:off x="5143500" y="1685925"/>
            <a:ext cx="2076450" cy="257175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33EB4CB-8961-4F28-A5FD-F1E25C9AF7D0}"/>
              </a:ext>
            </a:extLst>
          </p:cNvPr>
          <p:cNvSpPr>
            <a:spLocks noGrp="1"/>
          </p:cNvSpPr>
          <p:nvPr/>
        </p:nvSpPr>
        <p:spPr>
          <a:xfrm>
            <a:off x="5800725" y="1924050"/>
            <a:ext cx="762000" cy="762000"/>
          </a:xfrm>
          <a:prstGeom prst="ellipse">
            <a:avLst/>
          </a:prstGeom>
          <a:solidFill>
            <a:srgbClr val="E9E2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51DC6D-5CBB-49FD-B087-7B5EF60D721F}"/>
              </a:ext>
            </a:extLst>
          </p:cNvPr>
          <p:cNvSpPr>
            <a:spLocks noGrp="1"/>
          </p:cNvSpPr>
          <p:nvPr/>
        </p:nvSpPr>
        <p:spPr>
          <a:xfrm>
            <a:off x="5800725" y="2085975"/>
            <a:ext cx="762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5640CB-EA64-413F-90F4-BD08FB3EC1FD}"/>
              </a:ext>
            </a:extLst>
          </p:cNvPr>
          <p:cNvSpPr>
            <a:spLocks noGrp="1"/>
          </p:cNvSpPr>
          <p:nvPr/>
        </p:nvSpPr>
        <p:spPr>
          <a:xfrm>
            <a:off x="5314950" y="29146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Software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A54DF6-461F-475E-907F-5419B2245BD2}"/>
              </a:ext>
            </a:extLst>
          </p:cNvPr>
          <p:cNvSpPr>
            <a:spLocks noGrp="1"/>
          </p:cNvSpPr>
          <p:nvPr/>
        </p:nvSpPr>
        <p:spPr>
          <a:xfrm>
            <a:off x="5334000" y="3467100"/>
            <a:ext cx="16954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클라우드·AI 응용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AAC5847-CE2C-4D4F-9670-32B5EA86DD82}"/>
              </a:ext>
            </a:extLst>
          </p:cNvPr>
          <p:cNvSpPr>
            <a:spLocks noGrp="1"/>
          </p:cNvSpPr>
          <p:nvPr/>
        </p:nvSpPr>
        <p:spPr>
          <a:xfrm>
            <a:off x="7486650" y="1685925"/>
            <a:ext cx="2076450" cy="257175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8349307-12E3-49A1-B0FD-B67F42DB4A90}"/>
              </a:ext>
            </a:extLst>
          </p:cNvPr>
          <p:cNvSpPr>
            <a:spLocks noGrp="1"/>
          </p:cNvSpPr>
          <p:nvPr/>
        </p:nvSpPr>
        <p:spPr>
          <a:xfrm>
            <a:off x="8143875" y="1924050"/>
            <a:ext cx="762000" cy="762000"/>
          </a:xfrm>
          <a:prstGeom prst="ellipse">
            <a:avLst/>
          </a:prstGeom>
          <a:solidFill>
            <a:srgbClr val="E9E2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DA1376-45C7-4E6F-8C81-DE10003925E9}"/>
              </a:ext>
            </a:extLst>
          </p:cNvPr>
          <p:cNvSpPr>
            <a:spLocks noGrp="1"/>
          </p:cNvSpPr>
          <p:nvPr/>
        </p:nvSpPr>
        <p:spPr>
          <a:xfrm>
            <a:off x="8143875" y="2085975"/>
            <a:ext cx="762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54322F-F58C-4437-8737-993853A0E9CD}"/>
              </a:ext>
            </a:extLst>
          </p:cNvPr>
          <p:cNvSpPr>
            <a:spLocks noGrp="1"/>
          </p:cNvSpPr>
          <p:nvPr/>
        </p:nvSpPr>
        <p:spPr>
          <a:xfrm>
            <a:off x="7658100" y="29146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Cybersecurity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89EC13-F4C0-48CA-A35C-D56425BD971E}"/>
              </a:ext>
            </a:extLst>
          </p:cNvPr>
          <p:cNvSpPr>
            <a:spLocks noGrp="1"/>
          </p:cNvSpPr>
          <p:nvPr/>
        </p:nvSpPr>
        <p:spPr>
          <a:xfrm>
            <a:off x="7677150" y="3467100"/>
            <a:ext cx="16954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보안 예산과 반복 매출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97570BD-19A9-4478-84FD-DBE2D59F7A9B}"/>
              </a:ext>
            </a:extLst>
          </p:cNvPr>
          <p:cNvSpPr>
            <a:spLocks noGrp="1"/>
          </p:cNvSpPr>
          <p:nvPr/>
        </p:nvSpPr>
        <p:spPr>
          <a:xfrm>
            <a:off x="9829800" y="1685925"/>
            <a:ext cx="2076450" cy="257175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F995707-15A6-4583-89AE-576106E27247}"/>
              </a:ext>
            </a:extLst>
          </p:cNvPr>
          <p:cNvSpPr>
            <a:spLocks noGrp="1"/>
          </p:cNvSpPr>
          <p:nvPr/>
        </p:nvSpPr>
        <p:spPr>
          <a:xfrm>
            <a:off x="10487025" y="1924050"/>
            <a:ext cx="762000" cy="762000"/>
          </a:xfrm>
          <a:prstGeom prst="ellipse">
            <a:avLst/>
          </a:prstGeom>
          <a:solidFill>
            <a:srgbClr val="E9E2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D7124D-45D3-43BE-B236-F76BFE316E08}"/>
              </a:ext>
            </a:extLst>
          </p:cNvPr>
          <p:cNvSpPr>
            <a:spLocks noGrp="1"/>
          </p:cNvSpPr>
          <p:nvPr/>
        </p:nvSpPr>
        <p:spPr>
          <a:xfrm>
            <a:off x="10487025" y="2085975"/>
            <a:ext cx="762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1B6B7F-4AC4-4E30-ADB9-8A565D6378B3}"/>
              </a:ext>
            </a:extLst>
          </p:cNvPr>
          <p:cNvSpPr>
            <a:spLocks noGrp="1"/>
          </p:cNvSpPr>
          <p:nvPr/>
        </p:nvSpPr>
        <p:spPr>
          <a:xfrm>
            <a:off x="10001250" y="29146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Defense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F4C252-A7CB-4F0F-A072-832CF47CB5D4}"/>
              </a:ext>
            </a:extLst>
          </p:cNvPr>
          <p:cNvSpPr>
            <a:spLocks noGrp="1"/>
          </p:cNvSpPr>
          <p:nvPr/>
        </p:nvSpPr>
        <p:spPr>
          <a:xfrm>
            <a:off x="10020300" y="3467100"/>
            <a:ext cx="16954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수주잔고와 정부 예산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B902E8-D6EF-476E-879B-C4FA1004ABB9}"/>
              </a:ext>
            </a:extLst>
          </p:cNvPr>
          <p:cNvSpPr>
            <a:spLocks noGrp="1"/>
          </p:cNvSpPr>
          <p:nvPr/>
        </p:nvSpPr>
        <p:spPr>
          <a:xfrm>
            <a:off x="704850" y="4762500"/>
            <a:ext cx="10763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상대강도 · 거래대금 · ETF 흐름 · 추세 지속성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8A4411-EC2E-4F0F-A5EA-DE8C7FF330A4}"/>
              </a:ext>
            </a:extLst>
          </p:cNvPr>
          <p:cNvSpPr>
            <a:spLocks noGrp="1"/>
          </p:cNvSpPr>
          <p:nvPr/>
        </p:nvSpPr>
        <p:spPr>
          <a:xfrm>
            <a:off x="704850" y="5248275"/>
            <a:ext cx="10763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출력: 섹터별 우선순위와 관찰 종목군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A3ECF42-6D9E-49D4-8CA5-7DBEB142FD86}"/>
              </a:ext>
            </a:extLst>
          </p:cNvPr>
          <p:cNvSpPr>
            <a:spLocks noGrp="1"/>
          </p:cNvSpPr>
          <p:nvPr/>
        </p:nvSpPr>
        <p:spPr>
          <a:xfrm>
            <a:off x="6667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E3E275F-9A18-4873-99E5-FA9CD6DE722A}"/>
              </a:ext>
            </a:extLst>
          </p:cNvPr>
          <p:cNvSpPr>
            <a:spLocks noGrp="1"/>
          </p:cNvSpPr>
          <p:nvPr/>
        </p:nvSpPr>
        <p:spPr>
          <a:xfrm>
            <a:off x="7048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1F3C3A9-23F6-4CDA-A912-07065CEBE1B0}"/>
              </a:ext>
            </a:extLst>
          </p:cNvPr>
          <p:cNvSpPr>
            <a:spLocks noGrp="1"/>
          </p:cNvSpPr>
          <p:nvPr/>
        </p:nvSpPr>
        <p:spPr>
          <a:xfrm>
            <a:off x="51625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B5FAB1C-78CF-480A-A13E-CE50603811BE}"/>
              </a:ext>
            </a:extLst>
          </p:cNvPr>
          <p:cNvSpPr>
            <a:spLocks noGrp="1"/>
          </p:cNvSpPr>
          <p:nvPr/>
        </p:nvSpPr>
        <p:spPr>
          <a:xfrm>
            <a:off x="52006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F6F10A9-2054-42EE-BEFA-51B02606A51D}"/>
              </a:ext>
            </a:extLst>
          </p:cNvPr>
          <p:cNvSpPr>
            <a:spLocks noGrp="1"/>
          </p:cNvSpPr>
          <p:nvPr/>
        </p:nvSpPr>
        <p:spPr>
          <a:xfrm>
            <a:off x="74104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4DF319E-2932-4454-8EDF-35E79FEA805F}"/>
              </a:ext>
            </a:extLst>
          </p:cNvPr>
          <p:cNvSpPr>
            <a:spLocks noGrp="1"/>
          </p:cNvSpPr>
          <p:nvPr/>
        </p:nvSpPr>
        <p:spPr>
          <a:xfrm>
            <a:off x="74485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5F06868-883E-4FD9-850A-8864129978FF}"/>
              </a:ext>
            </a:extLst>
          </p:cNvPr>
          <p:cNvSpPr>
            <a:spLocks noGrp="1"/>
          </p:cNvSpPr>
          <p:nvPr/>
        </p:nvSpPr>
        <p:spPr>
          <a:xfrm>
            <a:off x="96583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A8DE93-99F6-4FAA-860D-B80BACDD4E2A}"/>
              </a:ext>
            </a:extLst>
          </p:cNvPr>
          <p:cNvSpPr>
            <a:spLocks noGrp="1"/>
          </p:cNvSpPr>
          <p:nvPr/>
        </p:nvSpPr>
        <p:spPr>
          <a:xfrm>
            <a:off x="96964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EDF3F71-78B9-AD8E-F0D4-4D0724CC2875}"/>
              </a:ext>
            </a:extLst>
          </p:cNvPr>
          <p:cNvSpPr>
            <a:spLocks noGrp="1"/>
          </p:cNvSpPr>
          <p:nvPr/>
        </p:nvSpPr>
        <p:spPr>
          <a:xfrm>
            <a:off x="29146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D5CCDDC-7DBE-026D-BE29-05ABE44EB01B}"/>
              </a:ext>
            </a:extLst>
          </p:cNvPr>
          <p:cNvSpPr>
            <a:spLocks noGrp="1"/>
          </p:cNvSpPr>
          <p:nvPr/>
        </p:nvSpPr>
        <p:spPr>
          <a:xfrm>
            <a:off x="29527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dirty="0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2  </a:t>
            </a:r>
            <a:r>
              <a:rPr sz="975" b="1" dirty="0" err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섹터</a:t>
            </a:r>
            <a:endParaRPr sz="975" b="1" dirty="0">
              <a:solidFill>
                <a:srgbClr val="F7FAFC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19531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5AE4DD8-0D04-4379-A790-F67AFC3540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F3AEC1-2526-41AC-BBA3-03F2D83D28C5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섹터 선택은 상승률보다 흐름의 질을 본다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63196E-0719-4376-93F6-D4F218DC18A5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1009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같은 수익률이라도 자금의 성격과 지속성은 다르다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B075F6-3CD2-440B-869C-535428D474EF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609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9CD261-2B75-4896-9B27-6DB50845C0DF}"/>
              </a:ext>
            </a:extLst>
          </p:cNvPr>
          <p:cNvSpPr>
            <a:spLocks noGrp="1"/>
          </p:cNvSpPr>
          <p:nvPr/>
        </p:nvSpPr>
        <p:spPr>
          <a:xfrm>
            <a:off x="619125" y="1562100"/>
            <a:ext cx="2476500" cy="2619375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5B9A9C-A1B4-4BAE-B9F1-B10687D9E826}"/>
              </a:ext>
            </a:extLst>
          </p:cNvPr>
          <p:cNvSpPr>
            <a:spLocks noGrp="1"/>
          </p:cNvSpPr>
          <p:nvPr/>
        </p:nvSpPr>
        <p:spPr>
          <a:xfrm>
            <a:off x="619125" y="1562100"/>
            <a:ext cx="66675" cy="2619375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D182EC-D905-4EAF-A918-6CD24E764BAD}"/>
              </a:ext>
            </a:extLst>
          </p:cNvPr>
          <p:cNvSpPr>
            <a:spLocks noGrp="1"/>
          </p:cNvSpPr>
          <p:nvPr/>
        </p:nvSpPr>
        <p:spPr>
          <a:xfrm>
            <a:off x="828675" y="175260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FACTOR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95024B-9640-4B7A-811F-61C8C74BF6FD}"/>
              </a:ext>
            </a:extLst>
          </p:cNvPr>
          <p:cNvSpPr>
            <a:spLocks noGrp="1"/>
          </p:cNvSpPr>
          <p:nvPr/>
        </p:nvSpPr>
        <p:spPr>
          <a:xfrm>
            <a:off x="828675" y="2152650"/>
            <a:ext cx="20574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가격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DEF30E-9555-42EB-8B15-EDDE40A4FAF4}"/>
              </a:ext>
            </a:extLst>
          </p:cNvPr>
          <p:cNvSpPr>
            <a:spLocks noGrp="1"/>
          </p:cNvSpPr>
          <p:nvPr/>
        </p:nvSpPr>
        <p:spPr>
          <a:xfrm>
            <a:off x="828675" y="2571750"/>
            <a:ext cx="2057400" cy="1419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시장 대비 상대강도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고점·저점의 방향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23E670-91AB-4AE6-8B9A-BCA478D2EEAF}"/>
              </a:ext>
            </a:extLst>
          </p:cNvPr>
          <p:cNvSpPr>
            <a:spLocks noGrp="1"/>
          </p:cNvSpPr>
          <p:nvPr/>
        </p:nvSpPr>
        <p:spPr>
          <a:xfrm>
            <a:off x="3419475" y="1562100"/>
            <a:ext cx="2476500" cy="2619375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1DEC40-F925-4117-8974-47D2BEAB85F8}"/>
              </a:ext>
            </a:extLst>
          </p:cNvPr>
          <p:cNvSpPr>
            <a:spLocks noGrp="1"/>
          </p:cNvSpPr>
          <p:nvPr/>
        </p:nvSpPr>
        <p:spPr>
          <a:xfrm>
            <a:off x="3419475" y="1562100"/>
            <a:ext cx="66675" cy="2619375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B92289-F58D-4BA3-BD50-D9131D21329F}"/>
              </a:ext>
            </a:extLst>
          </p:cNvPr>
          <p:cNvSpPr>
            <a:spLocks noGrp="1"/>
          </p:cNvSpPr>
          <p:nvPr/>
        </p:nvSpPr>
        <p:spPr>
          <a:xfrm>
            <a:off x="3629025" y="175260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FACTOR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ADABDE-DA72-43CD-9D0B-C52B8059822F}"/>
              </a:ext>
            </a:extLst>
          </p:cNvPr>
          <p:cNvSpPr>
            <a:spLocks noGrp="1"/>
          </p:cNvSpPr>
          <p:nvPr/>
        </p:nvSpPr>
        <p:spPr>
          <a:xfrm>
            <a:off x="3629025" y="2152650"/>
            <a:ext cx="20574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수급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17517D-44B4-412F-B549-A5EBCEB5C672}"/>
              </a:ext>
            </a:extLst>
          </p:cNvPr>
          <p:cNvSpPr>
            <a:spLocks noGrp="1"/>
          </p:cNvSpPr>
          <p:nvPr/>
        </p:nvSpPr>
        <p:spPr>
          <a:xfrm>
            <a:off x="3629025" y="2571750"/>
            <a:ext cx="2057400" cy="1419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ETF 자금 유입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거래량과 거래대금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6DA382-55A0-4BA7-9246-D7116C9618DA}"/>
              </a:ext>
            </a:extLst>
          </p:cNvPr>
          <p:cNvSpPr>
            <a:spLocks noGrp="1"/>
          </p:cNvSpPr>
          <p:nvPr/>
        </p:nvSpPr>
        <p:spPr>
          <a:xfrm>
            <a:off x="6219825" y="1562100"/>
            <a:ext cx="2476500" cy="2619375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E79231-461F-4822-8FC1-A29C8530383F}"/>
              </a:ext>
            </a:extLst>
          </p:cNvPr>
          <p:cNvSpPr>
            <a:spLocks noGrp="1"/>
          </p:cNvSpPr>
          <p:nvPr/>
        </p:nvSpPr>
        <p:spPr>
          <a:xfrm>
            <a:off x="6219825" y="1562100"/>
            <a:ext cx="66675" cy="2619375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73FDE36-FE86-43FF-95AE-DA9852056016}"/>
              </a:ext>
            </a:extLst>
          </p:cNvPr>
          <p:cNvSpPr>
            <a:spLocks noGrp="1"/>
          </p:cNvSpPr>
          <p:nvPr/>
        </p:nvSpPr>
        <p:spPr>
          <a:xfrm>
            <a:off x="6429375" y="175260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FACTOR 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1A3D42-02D5-49D2-9272-E081BBA2D418}"/>
              </a:ext>
            </a:extLst>
          </p:cNvPr>
          <p:cNvSpPr>
            <a:spLocks noGrp="1"/>
          </p:cNvSpPr>
          <p:nvPr/>
        </p:nvSpPr>
        <p:spPr>
          <a:xfrm>
            <a:off x="6429375" y="2152650"/>
            <a:ext cx="20574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확산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126E0C-4A40-422B-A2D0-72DE0CAE08CA}"/>
              </a:ext>
            </a:extLst>
          </p:cNvPr>
          <p:cNvSpPr>
            <a:spLocks noGrp="1"/>
          </p:cNvSpPr>
          <p:nvPr/>
        </p:nvSpPr>
        <p:spPr>
          <a:xfrm>
            <a:off x="6429375" y="2571750"/>
            <a:ext cx="2057400" cy="1419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대형주 몇 종목인지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섹터 전반의 상승인지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C2BD7CF-C4D8-4AA8-800C-C9C3F243A444}"/>
              </a:ext>
            </a:extLst>
          </p:cNvPr>
          <p:cNvSpPr>
            <a:spLocks noGrp="1"/>
          </p:cNvSpPr>
          <p:nvPr/>
        </p:nvSpPr>
        <p:spPr>
          <a:xfrm>
            <a:off x="9020175" y="1562100"/>
            <a:ext cx="2476500" cy="2619375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994143-8BE4-4A6D-988B-886800F02D10}"/>
              </a:ext>
            </a:extLst>
          </p:cNvPr>
          <p:cNvSpPr>
            <a:spLocks noGrp="1"/>
          </p:cNvSpPr>
          <p:nvPr/>
        </p:nvSpPr>
        <p:spPr>
          <a:xfrm>
            <a:off x="9020175" y="1562100"/>
            <a:ext cx="66675" cy="2619375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CD90493-3094-4F6A-AE1A-9546C7AC27A7}"/>
              </a:ext>
            </a:extLst>
          </p:cNvPr>
          <p:cNvSpPr>
            <a:spLocks noGrp="1"/>
          </p:cNvSpPr>
          <p:nvPr/>
        </p:nvSpPr>
        <p:spPr>
          <a:xfrm>
            <a:off x="9229725" y="175260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FACTOR 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38E7A9-E3C5-4E6C-807B-4383B5ED2314}"/>
              </a:ext>
            </a:extLst>
          </p:cNvPr>
          <p:cNvSpPr>
            <a:spLocks noGrp="1"/>
          </p:cNvSpPr>
          <p:nvPr/>
        </p:nvSpPr>
        <p:spPr>
          <a:xfrm>
            <a:off x="9229725" y="2152650"/>
            <a:ext cx="20574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촉매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40136B-1D6A-4226-B751-A96199BD8037}"/>
              </a:ext>
            </a:extLst>
          </p:cNvPr>
          <p:cNvSpPr>
            <a:spLocks noGrp="1"/>
          </p:cNvSpPr>
          <p:nvPr/>
        </p:nvSpPr>
        <p:spPr>
          <a:xfrm>
            <a:off x="9229725" y="2571750"/>
            <a:ext cx="2057400" cy="1419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실적·수주·정책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상승을 설명할 근거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687BD55-2BCB-45C9-812B-68A19689404F}"/>
              </a:ext>
            </a:extLst>
          </p:cNvPr>
          <p:cNvSpPr>
            <a:spLocks noGrp="1"/>
          </p:cNvSpPr>
          <p:nvPr/>
        </p:nvSpPr>
        <p:spPr>
          <a:xfrm>
            <a:off x="619125" y="4552950"/>
            <a:ext cx="10858500" cy="1085850"/>
          </a:xfrm>
          <a:prstGeom prst="roundRect">
            <a:avLst>
              <a:gd name="adj" fmla="val 7018"/>
            </a:avLst>
          </a:prstGeom>
          <a:solidFill>
            <a:srgbClr val="F4E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644625-28DA-4A6F-92E8-45D4CAE19C79}"/>
              </a:ext>
            </a:extLst>
          </p:cNvPr>
          <p:cNvSpPr>
            <a:spLocks noGrp="1"/>
          </p:cNvSpPr>
          <p:nvPr/>
        </p:nvSpPr>
        <p:spPr>
          <a:xfrm>
            <a:off x="838200" y="472440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예시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F8833A-639C-43FA-B579-F49DDEC3CE3D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def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AI·반도체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섹터는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소수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대형주가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높은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상승률을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만들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수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있으므로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상승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종목의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비율과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동일가중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성과를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함께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확인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.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방산처럼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여러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종목이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동반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상승하는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경우에는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섹터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상승률의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확산성과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지속성을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더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높게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</a:t>
            </a:r>
            <a:r>
              <a:rPr lang="en-US" sz="1275" b="1" dirty="0" err="1">
                <a:solidFill>
                  <a:srgbClr val="132238"/>
                </a:solidFill>
                <a:latin typeface="Noto Sans KR"/>
              </a:rPr>
              <a:t>평가할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 수 있</a:t>
            </a:r>
            <a:r>
              <a:rPr lang="ko-KR" altLang="en-US" sz="1275" b="1" dirty="0" err="1">
                <a:solidFill>
                  <a:srgbClr val="132238"/>
                </a:solidFill>
                <a:latin typeface="Noto Sans KR"/>
              </a:rPr>
              <a:t>슴</a:t>
            </a:r>
            <a:r>
              <a:rPr lang="en-US" sz="1275" b="1" dirty="0">
                <a:solidFill>
                  <a:srgbClr val="132238"/>
                </a:solidFill>
                <a:latin typeface="Noto Sans KR"/>
              </a:rPr>
              <a:t>. “</a:t>
            </a:r>
            <a:r>
              <a:rPr lang="ko-KR" altLang="en-US" sz="1275" b="1" dirty="0">
                <a:solidFill>
                  <a:srgbClr val="132238"/>
                </a:solidFill>
                <a:latin typeface="Noto Sans KR"/>
              </a:rPr>
              <a:t>얼마가 올랐는 가</a:t>
            </a:r>
            <a:r>
              <a:rPr lang="en-US" altLang="ko-KR" sz="1275" b="1" dirty="0">
                <a:solidFill>
                  <a:srgbClr val="132238"/>
                </a:solidFill>
                <a:latin typeface="Noto Sans KR"/>
              </a:rPr>
              <a:t>”</a:t>
            </a:r>
            <a:r>
              <a:rPr lang="ko-KR" altLang="en-US" sz="1275" b="1" dirty="0">
                <a:solidFill>
                  <a:srgbClr val="132238"/>
                </a:solidFill>
                <a:latin typeface="Noto Sans KR"/>
              </a:rPr>
              <a:t> 보다는 </a:t>
            </a:r>
            <a:r>
              <a:rPr lang="en-US" altLang="ko-KR" sz="1275" b="1" dirty="0">
                <a:solidFill>
                  <a:srgbClr val="132238"/>
                </a:solidFill>
                <a:latin typeface="Noto Sans KR"/>
              </a:rPr>
              <a:t>“</a:t>
            </a:r>
            <a:r>
              <a:rPr lang="ko-KR" altLang="en-US" sz="1275" b="1" dirty="0">
                <a:solidFill>
                  <a:srgbClr val="132238"/>
                </a:solidFill>
                <a:latin typeface="Noto Sans KR"/>
              </a:rPr>
              <a:t>몇 개의 종목이 함께 올랐는 가</a:t>
            </a:r>
            <a:r>
              <a:rPr lang="en-US" altLang="ko-KR" sz="1275" b="1" dirty="0">
                <a:solidFill>
                  <a:srgbClr val="132238"/>
                </a:solidFill>
                <a:latin typeface="Noto Sans KR"/>
              </a:rPr>
              <a:t>”</a:t>
            </a:r>
            <a:r>
              <a:rPr lang="ko-KR" altLang="en-US" sz="1275" b="1" dirty="0">
                <a:solidFill>
                  <a:srgbClr val="132238"/>
                </a:solidFill>
                <a:latin typeface="Noto Sans KR"/>
              </a:rPr>
              <a:t>가 중요</a:t>
            </a:r>
            <a:r>
              <a:rPr lang="en-US" altLang="ko-KR" sz="1275" b="1" dirty="0">
                <a:solidFill>
                  <a:srgbClr val="132238"/>
                </a:solidFill>
                <a:latin typeface="Noto Sans KR"/>
              </a:rPr>
              <a:t>.</a:t>
            </a:r>
            <a:endParaRPr sz="1275" b="1" dirty="0">
              <a:solidFill>
                <a:srgbClr val="132238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122BFC5-7BB1-4B03-B5BF-21529B1D6CE7}"/>
              </a:ext>
            </a:extLst>
          </p:cNvPr>
          <p:cNvSpPr>
            <a:spLocks noGrp="1"/>
          </p:cNvSpPr>
          <p:nvPr/>
        </p:nvSpPr>
        <p:spPr>
          <a:xfrm>
            <a:off x="6667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6424B0-29C6-40A2-80BC-BDFDCF87A9BD}"/>
              </a:ext>
            </a:extLst>
          </p:cNvPr>
          <p:cNvSpPr>
            <a:spLocks noGrp="1"/>
          </p:cNvSpPr>
          <p:nvPr/>
        </p:nvSpPr>
        <p:spPr>
          <a:xfrm>
            <a:off x="7048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66C0B7C-3A9F-4C4F-BD6D-F10C0A1888DE}"/>
              </a:ext>
            </a:extLst>
          </p:cNvPr>
          <p:cNvSpPr>
            <a:spLocks noGrp="1"/>
          </p:cNvSpPr>
          <p:nvPr/>
        </p:nvSpPr>
        <p:spPr>
          <a:xfrm>
            <a:off x="29146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14D38F-6BB4-4576-9854-37DFE59F771A}"/>
              </a:ext>
            </a:extLst>
          </p:cNvPr>
          <p:cNvSpPr>
            <a:spLocks noGrp="1"/>
          </p:cNvSpPr>
          <p:nvPr/>
        </p:nvSpPr>
        <p:spPr>
          <a:xfrm>
            <a:off x="29527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dirty="0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2  </a:t>
            </a:r>
            <a:r>
              <a:rPr sz="975" b="1" dirty="0" err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섹터</a:t>
            </a:r>
            <a:endParaRPr sz="975" b="1" dirty="0">
              <a:solidFill>
                <a:srgbClr val="F7FAF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5772BB8-9AAA-460C-83CD-4E076612E390}"/>
              </a:ext>
            </a:extLst>
          </p:cNvPr>
          <p:cNvSpPr>
            <a:spLocks noGrp="1"/>
          </p:cNvSpPr>
          <p:nvPr/>
        </p:nvSpPr>
        <p:spPr>
          <a:xfrm>
            <a:off x="51625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E7F696-4E06-4074-88ED-0F23269EB1A8}"/>
              </a:ext>
            </a:extLst>
          </p:cNvPr>
          <p:cNvSpPr>
            <a:spLocks noGrp="1"/>
          </p:cNvSpPr>
          <p:nvPr/>
        </p:nvSpPr>
        <p:spPr>
          <a:xfrm>
            <a:off x="52006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284F21E-F9E7-4218-B952-F4466C62E504}"/>
              </a:ext>
            </a:extLst>
          </p:cNvPr>
          <p:cNvSpPr>
            <a:spLocks noGrp="1"/>
          </p:cNvSpPr>
          <p:nvPr/>
        </p:nvSpPr>
        <p:spPr>
          <a:xfrm>
            <a:off x="74104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2A30F9-A84A-49F0-80A0-B5F39146DCEE}"/>
              </a:ext>
            </a:extLst>
          </p:cNvPr>
          <p:cNvSpPr>
            <a:spLocks noGrp="1"/>
          </p:cNvSpPr>
          <p:nvPr/>
        </p:nvSpPr>
        <p:spPr>
          <a:xfrm>
            <a:off x="74485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1EB59FA-BA7B-4891-ACDE-805B00272F94}"/>
              </a:ext>
            </a:extLst>
          </p:cNvPr>
          <p:cNvSpPr>
            <a:spLocks noGrp="1"/>
          </p:cNvSpPr>
          <p:nvPr/>
        </p:nvSpPr>
        <p:spPr>
          <a:xfrm>
            <a:off x="96583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C8DA4E-A69D-4AD8-9455-3B3709324A4C}"/>
              </a:ext>
            </a:extLst>
          </p:cNvPr>
          <p:cNvSpPr>
            <a:spLocks noGrp="1"/>
          </p:cNvSpPr>
          <p:nvPr/>
        </p:nvSpPr>
        <p:spPr>
          <a:xfrm>
            <a:off x="96964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1107119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EA91991-E24F-46A4-A41E-2EA347CF15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45FCA2-89C9-4A2F-BA9B-CD9FFE82188D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3단계: 데이터센터 수요를 빅테크 실적으로 검증한다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C3C846-DFB3-4431-97B5-395AA3A2519B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1009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data-center-earnings-agent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F274DE-60AC-4A5F-A07D-04E78EE3B2A7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609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B9CCBAA-59C8-473A-84A4-69753F61A215}"/>
              </a:ext>
            </a:extLst>
          </p:cNvPr>
          <p:cNvSpPr>
            <a:spLocks noGrp="1"/>
          </p:cNvSpPr>
          <p:nvPr/>
        </p:nvSpPr>
        <p:spPr>
          <a:xfrm>
            <a:off x="619125" y="1447800"/>
            <a:ext cx="51435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B417F0-6B33-4269-82ED-38A10DDE9BDC}"/>
              </a:ext>
            </a:extLst>
          </p:cNvPr>
          <p:cNvSpPr>
            <a:spLocks noGrp="1"/>
          </p:cNvSpPr>
          <p:nvPr/>
        </p:nvSpPr>
        <p:spPr>
          <a:xfrm>
            <a:off x="619125" y="1447800"/>
            <a:ext cx="66675" cy="16573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3B8014-C2BD-48B9-92F6-8B88D0876998}"/>
              </a:ext>
            </a:extLst>
          </p:cNvPr>
          <p:cNvSpPr>
            <a:spLocks noGrp="1"/>
          </p:cNvSpPr>
          <p:nvPr/>
        </p:nvSpPr>
        <p:spPr>
          <a:xfrm>
            <a:off x="828675" y="1657350"/>
            <a:ext cx="47244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Microsoft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E882CE-8D2E-48A3-AA3D-97B7AC85925D}"/>
              </a:ext>
            </a:extLst>
          </p:cNvPr>
          <p:cNvSpPr>
            <a:spLocks noGrp="1"/>
          </p:cNvSpPr>
          <p:nvPr/>
        </p:nvSpPr>
        <p:spPr>
          <a:xfrm>
            <a:off x="828675" y="2114550"/>
            <a:ext cx="47244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Azure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클라우드 성장률·AI 기여·CapEx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622D8B-69E6-4365-A01D-AE112AF10936}"/>
              </a:ext>
            </a:extLst>
          </p:cNvPr>
          <p:cNvSpPr>
            <a:spLocks noGrp="1"/>
          </p:cNvSpPr>
          <p:nvPr/>
        </p:nvSpPr>
        <p:spPr>
          <a:xfrm>
            <a:off x="6191250" y="1447800"/>
            <a:ext cx="51435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CB30D4-1355-4132-B10A-3F384352F115}"/>
              </a:ext>
            </a:extLst>
          </p:cNvPr>
          <p:cNvSpPr>
            <a:spLocks noGrp="1"/>
          </p:cNvSpPr>
          <p:nvPr/>
        </p:nvSpPr>
        <p:spPr>
          <a:xfrm>
            <a:off x="6191250" y="1447800"/>
            <a:ext cx="66675" cy="165735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1FFC97-53DF-456D-AABB-D7C5F4AFF8B5}"/>
              </a:ext>
            </a:extLst>
          </p:cNvPr>
          <p:cNvSpPr>
            <a:spLocks noGrp="1"/>
          </p:cNvSpPr>
          <p:nvPr/>
        </p:nvSpPr>
        <p:spPr>
          <a:xfrm>
            <a:off x="6400800" y="1657350"/>
            <a:ext cx="47244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Amazon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0CC5F1-B7D2-4A4C-B71F-FB541A0F6A13}"/>
              </a:ext>
            </a:extLst>
          </p:cNvPr>
          <p:cNvSpPr>
            <a:spLocks noGrp="1"/>
          </p:cNvSpPr>
          <p:nvPr/>
        </p:nvSpPr>
        <p:spPr>
          <a:xfrm>
            <a:off x="6400800" y="2114550"/>
            <a:ext cx="47244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AWS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성장률·마진·AI 인프라 투자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C865F64-CAF0-49D8-A4DF-15D58BF443E9}"/>
              </a:ext>
            </a:extLst>
          </p:cNvPr>
          <p:cNvSpPr>
            <a:spLocks noGrp="1"/>
          </p:cNvSpPr>
          <p:nvPr/>
        </p:nvSpPr>
        <p:spPr>
          <a:xfrm>
            <a:off x="619125" y="3495675"/>
            <a:ext cx="51435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2D7CD3-E91C-4C9E-9097-06543C9EB9D9}"/>
              </a:ext>
            </a:extLst>
          </p:cNvPr>
          <p:cNvSpPr>
            <a:spLocks noGrp="1"/>
          </p:cNvSpPr>
          <p:nvPr/>
        </p:nvSpPr>
        <p:spPr>
          <a:xfrm>
            <a:off x="619125" y="3495675"/>
            <a:ext cx="66675" cy="1657350"/>
          </a:xfrm>
          <a:prstGeom prst="rect">
            <a:avLst/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BD6BC1-1675-4C9A-8074-F96E3932129C}"/>
              </a:ext>
            </a:extLst>
          </p:cNvPr>
          <p:cNvSpPr>
            <a:spLocks noGrp="1"/>
          </p:cNvSpPr>
          <p:nvPr/>
        </p:nvSpPr>
        <p:spPr>
          <a:xfrm>
            <a:off x="828675" y="3705225"/>
            <a:ext cx="47244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Alphabet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92C290-0AA8-4B3E-97BF-2743335E0F95}"/>
              </a:ext>
            </a:extLst>
          </p:cNvPr>
          <p:cNvSpPr>
            <a:spLocks noGrp="1"/>
          </p:cNvSpPr>
          <p:nvPr/>
        </p:nvSpPr>
        <p:spPr>
          <a:xfrm>
            <a:off x="828675" y="4162425"/>
            <a:ext cx="47244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Google Cloud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매출·영업이익·백로그·CapEx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2472CD6-2ACA-42EA-9CA8-E524DAA353BA}"/>
              </a:ext>
            </a:extLst>
          </p:cNvPr>
          <p:cNvSpPr>
            <a:spLocks noGrp="1"/>
          </p:cNvSpPr>
          <p:nvPr/>
        </p:nvSpPr>
        <p:spPr>
          <a:xfrm>
            <a:off x="6191250" y="3495675"/>
            <a:ext cx="51435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DFAF75-EA70-4C43-BF24-660DF5948E3D}"/>
              </a:ext>
            </a:extLst>
          </p:cNvPr>
          <p:cNvSpPr>
            <a:spLocks noGrp="1"/>
          </p:cNvSpPr>
          <p:nvPr/>
        </p:nvSpPr>
        <p:spPr>
          <a:xfrm>
            <a:off x="6191250" y="3495675"/>
            <a:ext cx="66675" cy="165735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8300AE-F31A-4C13-872A-B6BE09292EA5}"/>
              </a:ext>
            </a:extLst>
          </p:cNvPr>
          <p:cNvSpPr>
            <a:spLocks noGrp="1"/>
          </p:cNvSpPr>
          <p:nvPr/>
        </p:nvSpPr>
        <p:spPr>
          <a:xfrm>
            <a:off x="6400800" y="3705225"/>
            <a:ext cx="47244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Meta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B81D11-8B81-4015-97A9-2684FF646DDB}"/>
              </a:ext>
            </a:extLst>
          </p:cNvPr>
          <p:cNvSpPr>
            <a:spLocks noGrp="1"/>
          </p:cNvSpPr>
          <p:nvPr/>
        </p:nvSpPr>
        <p:spPr>
          <a:xfrm>
            <a:off x="6400800" y="4162425"/>
            <a:ext cx="47244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AI Infrastructure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CapEx 가이던스·광고 수익화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B6C704-1EE8-411E-9A73-4EE86B8E6233}"/>
              </a:ext>
            </a:extLst>
          </p:cNvPr>
          <p:cNvSpPr>
            <a:spLocks noGrp="1"/>
          </p:cNvSpPr>
          <p:nvPr/>
        </p:nvSpPr>
        <p:spPr>
          <a:xfrm>
            <a:off x="685800" y="5534025"/>
            <a:ext cx="10715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dirty="0" err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빅테크의</a:t>
            </a:r>
            <a:r>
              <a:rPr sz="1350" b="1" dirty="0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dirty="0" err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지출</a:t>
            </a:r>
            <a:r>
              <a:rPr lang="en-US" sz="1350" b="1" dirty="0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en-US" sz="13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CapEx</a:t>
            </a:r>
            <a:r>
              <a:rPr lang="en-US" sz="1350" b="1" dirty="0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)</a:t>
            </a:r>
            <a:r>
              <a:rPr sz="1350" b="1" dirty="0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은 </a:t>
            </a:r>
            <a:r>
              <a:rPr sz="1350" b="1" dirty="0" err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반도체·서버·네트워크·전력·냉각</a:t>
            </a:r>
            <a:r>
              <a:rPr sz="1350" b="1" dirty="0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dirty="0" err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공급망의</a:t>
            </a:r>
            <a:r>
              <a:rPr sz="1350" b="1" dirty="0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dirty="0" err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매출</a:t>
            </a:r>
            <a:r>
              <a:rPr sz="1350" b="1" dirty="0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dirty="0" err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선행</a:t>
            </a:r>
            <a:r>
              <a:rPr sz="1350" b="1" dirty="0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dirty="0" err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신호가</a:t>
            </a:r>
            <a:r>
              <a:rPr sz="1350" b="1" dirty="0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dirty="0" err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된다</a:t>
            </a:r>
            <a:endParaRPr sz="1350" b="1" dirty="0">
              <a:solidFill>
                <a:srgbClr val="F59E0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57FC731-3CB3-454A-903D-249CA4AB32AE}"/>
              </a:ext>
            </a:extLst>
          </p:cNvPr>
          <p:cNvSpPr>
            <a:spLocks noGrp="1"/>
          </p:cNvSpPr>
          <p:nvPr/>
        </p:nvSpPr>
        <p:spPr>
          <a:xfrm>
            <a:off x="6667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F9B91A-232E-43BD-8236-EA8BB93BBFD6}"/>
              </a:ext>
            </a:extLst>
          </p:cNvPr>
          <p:cNvSpPr>
            <a:spLocks noGrp="1"/>
          </p:cNvSpPr>
          <p:nvPr/>
        </p:nvSpPr>
        <p:spPr>
          <a:xfrm>
            <a:off x="7048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F700495-2B0F-4EC6-8109-C889E541BB39}"/>
              </a:ext>
            </a:extLst>
          </p:cNvPr>
          <p:cNvSpPr>
            <a:spLocks noGrp="1"/>
          </p:cNvSpPr>
          <p:nvPr/>
        </p:nvSpPr>
        <p:spPr>
          <a:xfrm>
            <a:off x="29146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881BF8-E1C8-4677-B5B7-B26E5821501E}"/>
              </a:ext>
            </a:extLst>
          </p:cNvPr>
          <p:cNvSpPr>
            <a:spLocks noGrp="1"/>
          </p:cNvSpPr>
          <p:nvPr/>
        </p:nvSpPr>
        <p:spPr>
          <a:xfrm>
            <a:off x="29527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F36130-A635-4DCF-97FC-CA9EC60A413D}"/>
              </a:ext>
            </a:extLst>
          </p:cNvPr>
          <p:cNvSpPr>
            <a:spLocks noGrp="1"/>
          </p:cNvSpPr>
          <p:nvPr/>
        </p:nvSpPr>
        <p:spPr>
          <a:xfrm>
            <a:off x="51625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DE6FBB-4A78-4CB8-B680-73F56830747D}"/>
              </a:ext>
            </a:extLst>
          </p:cNvPr>
          <p:cNvSpPr>
            <a:spLocks noGrp="1"/>
          </p:cNvSpPr>
          <p:nvPr/>
        </p:nvSpPr>
        <p:spPr>
          <a:xfrm>
            <a:off x="52006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5E6C4D9-2FB7-42CE-BFD3-2F86BCA8A2C2}"/>
              </a:ext>
            </a:extLst>
          </p:cNvPr>
          <p:cNvSpPr>
            <a:spLocks noGrp="1"/>
          </p:cNvSpPr>
          <p:nvPr/>
        </p:nvSpPr>
        <p:spPr>
          <a:xfrm>
            <a:off x="74104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617646-C6B7-4EAE-A347-8FE82A6BE684}"/>
              </a:ext>
            </a:extLst>
          </p:cNvPr>
          <p:cNvSpPr>
            <a:spLocks noGrp="1"/>
          </p:cNvSpPr>
          <p:nvPr/>
        </p:nvSpPr>
        <p:spPr>
          <a:xfrm>
            <a:off x="74485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31AE31E-E902-47C1-A1D8-FCE5B79A2BEB}"/>
              </a:ext>
            </a:extLst>
          </p:cNvPr>
          <p:cNvSpPr>
            <a:spLocks noGrp="1"/>
          </p:cNvSpPr>
          <p:nvPr/>
        </p:nvSpPr>
        <p:spPr>
          <a:xfrm>
            <a:off x="96583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B93AE8-7868-40FE-B35A-080A5A4BF73E}"/>
              </a:ext>
            </a:extLst>
          </p:cNvPr>
          <p:cNvSpPr>
            <a:spLocks noGrp="1"/>
          </p:cNvSpPr>
          <p:nvPr/>
        </p:nvSpPr>
        <p:spPr>
          <a:xfrm>
            <a:off x="96964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613255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96DD976-1D17-48FE-AC64-1BA6F9EF7C4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9334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Earnings Agent의 5분 분석 흐름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C59726-F055-4AE4-AF48-3D46F85A4A99}"/>
              </a:ext>
            </a:extLst>
          </p:cNvPr>
          <p:cNvSpPr>
            <a:spLocks noGrp="1"/>
          </p:cNvSpPr>
          <p:nvPr/>
        </p:nvSpPr>
        <p:spPr>
          <a:xfrm>
            <a:off x="590550" y="895350"/>
            <a:ext cx="9144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숫자와 경영진 문장을 함께 읽어 공급망 영향을 추론한다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B2E64B-4D7B-44EA-B3F4-649273500039}"/>
              </a:ext>
            </a:extLst>
          </p:cNvPr>
          <p:cNvSpPr>
            <a:spLocks noGrp="1"/>
          </p:cNvSpPr>
          <p:nvPr/>
        </p:nvSpPr>
        <p:spPr>
          <a:xfrm>
            <a:off x="419100" y="2114550"/>
            <a:ext cx="2047875" cy="2076450"/>
          </a:xfrm>
          <a:prstGeom prst="roundRect">
            <a:avLst>
              <a:gd name="adj" fmla="val 3721"/>
            </a:avLst>
          </a:prstGeom>
          <a:solidFill>
            <a:srgbClr val="102945"/>
          </a:solidFill>
          <a:ln w="9525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67CB1C-4513-4324-ADF5-0B15F1B5D8BD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419100" cy="4191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DF9F11-C08D-4992-A438-37FAF2EA8D2A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9FE63A-83D0-4500-9CC4-DD11E83164EB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16764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공시·보도자료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B29858-FDD1-44F2-90B6-B763F0632A82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16764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실적 발표 감지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81C1F7A-5271-4834-9CA8-9954F65A437C}"/>
              </a:ext>
            </a:extLst>
          </p:cNvPr>
          <p:cNvSpPr>
            <a:spLocks noGrp="1"/>
          </p:cNvSpPr>
          <p:nvPr/>
        </p:nvSpPr>
        <p:spPr>
          <a:xfrm>
            <a:off x="2486025" y="2895600"/>
            <a:ext cx="247650" cy="419100"/>
          </a:xfrm>
          <a:prstGeom prst="rightArrow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3E9580-D0C7-430C-9307-44C96610AF81}"/>
              </a:ext>
            </a:extLst>
          </p:cNvPr>
          <p:cNvSpPr>
            <a:spLocks noGrp="1"/>
          </p:cNvSpPr>
          <p:nvPr/>
        </p:nvSpPr>
        <p:spPr>
          <a:xfrm>
            <a:off x="2771775" y="2114550"/>
            <a:ext cx="2047875" cy="2076450"/>
          </a:xfrm>
          <a:prstGeom prst="roundRect">
            <a:avLst>
              <a:gd name="adj" fmla="val 3721"/>
            </a:avLst>
          </a:prstGeom>
          <a:solidFill>
            <a:srgbClr val="102945"/>
          </a:solidFill>
          <a:ln w="9525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48139BF-CC16-4951-BC30-CB95F990A152}"/>
              </a:ext>
            </a:extLst>
          </p:cNvPr>
          <p:cNvSpPr>
            <a:spLocks noGrp="1"/>
          </p:cNvSpPr>
          <p:nvPr/>
        </p:nvSpPr>
        <p:spPr>
          <a:xfrm>
            <a:off x="2962275" y="2305050"/>
            <a:ext cx="419100" cy="4191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7CC713-8467-4CFA-A286-B13F2A061914}"/>
              </a:ext>
            </a:extLst>
          </p:cNvPr>
          <p:cNvSpPr>
            <a:spLocks noGrp="1"/>
          </p:cNvSpPr>
          <p:nvPr/>
        </p:nvSpPr>
        <p:spPr>
          <a:xfrm>
            <a:off x="2962275" y="23622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9FEA32-D2CC-435B-AF58-45F577F53537}"/>
              </a:ext>
            </a:extLst>
          </p:cNvPr>
          <p:cNvSpPr>
            <a:spLocks noGrp="1"/>
          </p:cNvSpPr>
          <p:nvPr/>
        </p:nvSpPr>
        <p:spPr>
          <a:xfrm>
            <a:off x="2962275" y="2914650"/>
            <a:ext cx="16764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핵심 수치 추출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FD5E52-A0F9-4D44-A28F-3F027FA0F1C5}"/>
              </a:ext>
            </a:extLst>
          </p:cNvPr>
          <p:cNvSpPr>
            <a:spLocks noGrp="1"/>
          </p:cNvSpPr>
          <p:nvPr/>
        </p:nvSpPr>
        <p:spPr>
          <a:xfrm>
            <a:off x="2962275" y="3486150"/>
            <a:ext cx="16764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Cloud·CapEx·RPO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7732A28-DF3A-45F1-8A35-3A45A782907A}"/>
              </a:ext>
            </a:extLst>
          </p:cNvPr>
          <p:cNvSpPr>
            <a:spLocks noGrp="1"/>
          </p:cNvSpPr>
          <p:nvPr/>
        </p:nvSpPr>
        <p:spPr>
          <a:xfrm>
            <a:off x="4838700" y="2895600"/>
            <a:ext cx="247650" cy="419100"/>
          </a:xfrm>
          <a:prstGeom prst="rightArrow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5BFBDF-DEE5-44F4-8D6E-171AF676918B}"/>
              </a:ext>
            </a:extLst>
          </p:cNvPr>
          <p:cNvSpPr>
            <a:spLocks noGrp="1"/>
          </p:cNvSpPr>
          <p:nvPr/>
        </p:nvSpPr>
        <p:spPr>
          <a:xfrm>
            <a:off x="5124450" y="2114550"/>
            <a:ext cx="2047875" cy="2076450"/>
          </a:xfrm>
          <a:prstGeom prst="roundRect">
            <a:avLst>
              <a:gd name="adj" fmla="val 3721"/>
            </a:avLst>
          </a:prstGeom>
          <a:solidFill>
            <a:srgbClr val="102945"/>
          </a:solidFill>
          <a:ln w="9525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D6F9F7-75A0-4FE2-BA1A-50366D0200C0}"/>
              </a:ext>
            </a:extLst>
          </p:cNvPr>
          <p:cNvSpPr>
            <a:spLocks noGrp="1"/>
          </p:cNvSpPr>
          <p:nvPr/>
        </p:nvSpPr>
        <p:spPr>
          <a:xfrm>
            <a:off x="5314950" y="2305050"/>
            <a:ext cx="419100" cy="4191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68C3FA-7061-4863-B4D9-5CBCDB007BFF}"/>
              </a:ext>
            </a:extLst>
          </p:cNvPr>
          <p:cNvSpPr>
            <a:spLocks noGrp="1"/>
          </p:cNvSpPr>
          <p:nvPr/>
        </p:nvSpPr>
        <p:spPr>
          <a:xfrm>
            <a:off x="5314950" y="23622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361357-6D30-4E0E-8AD9-9D9BA5AE982E}"/>
              </a:ext>
            </a:extLst>
          </p:cNvPr>
          <p:cNvSpPr>
            <a:spLocks noGrp="1"/>
          </p:cNvSpPr>
          <p:nvPr/>
        </p:nvSpPr>
        <p:spPr>
          <a:xfrm>
            <a:off x="5314950" y="2914650"/>
            <a:ext cx="16764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가이던스 비교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3103BE-F3B0-44FC-8BA6-E10CBF57F222}"/>
              </a:ext>
            </a:extLst>
          </p:cNvPr>
          <p:cNvSpPr>
            <a:spLocks noGrp="1"/>
          </p:cNvSpPr>
          <p:nvPr/>
        </p:nvSpPr>
        <p:spPr>
          <a:xfrm>
            <a:off x="5314950" y="3486150"/>
            <a:ext cx="16764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전분기·컨센서스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BBDFF70-BCEE-43D1-A5BD-BBE615736FE5}"/>
              </a:ext>
            </a:extLst>
          </p:cNvPr>
          <p:cNvSpPr>
            <a:spLocks noGrp="1"/>
          </p:cNvSpPr>
          <p:nvPr/>
        </p:nvSpPr>
        <p:spPr>
          <a:xfrm>
            <a:off x="7191375" y="2895600"/>
            <a:ext cx="247650" cy="419100"/>
          </a:xfrm>
          <a:prstGeom prst="rightArrow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BB500BE-560C-4BAD-B38A-527C034F9131}"/>
              </a:ext>
            </a:extLst>
          </p:cNvPr>
          <p:cNvSpPr>
            <a:spLocks noGrp="1"/>
          </p:cNvSpPr>
          <p:nvPr/>
        </p:nvSpPr>
        <p:spPr>
          <a:xfrm>
            <a:off x="7477125" y="2114550"/>
            <a:ext cx="2047875" cy="2076450"/>
          </a:xfrm>
          <a:prstGeom prst="roundRect">
            <a:avLst>
              <a:gd name="adj" fmla="val 3721"/>
            </a:avLst>
          </a:prstGeom>
          <a:solidFill>
            <a:srgbClr val="102945"/>
          </a:solidFill>
          <a:ln w="9525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7D2F7D4-EC6C-4613-87EE-E92B73AA379D}"/>
              </a:ext>
            </a:extLst>
          </p:cNvPr>
          <p:cNvSpPr>
            <a:spLocks noGrp="1"/>
          </p:cNvSpPr>
          <p:nvPr/>
        </p:nvSpPr>
        <p:spPr>
          <a:xfrm>
            <a:off x="7667625" y="2305050"/>
            <a:ext cx="419100" cy="4191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F23355-B953-49FB-9CFD-EBBFC003C279}"/>
              </a:ext>
            </a:extLst>
          </p:cNvPr>
          <p:cNvSpPr>
            <a:spLocks noGrp="1"/>
          </p:cNvSpPr>
          <p:nvPr/>
        </p:nvSpPr>
        <p:spPr>
          <a:xfrm>
            <a:off x="7667625" y="23622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CE2E34-C29C-401D-983E-58B14DE45D8E}"/>
              </a:ext>
            </a:extLst>
          </p:cNvPr>
          <p:cNvSpPr>
            <a:spLocks noGrp="1"/>
          </p:cNvSpPr>
          <p:nvPr/>
        </p:nvSpPr>
        <p:spPr>
          <a:xfrm>
            <a:off x="7667625" y="2914650"/>
            <a:ext cx="16764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문장 분류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961014-2FA2-49CA-A27D-F4665481BBE6}"/>
              </a:ext>
            </a:extLst>
          </p:cNvPr>
          <p:cNvSpPr>
            <a:spLocks noGrp="1"/>
          </p:cNvSpPr>
          <p:nvPr/>
        </p:nvSpPr>
        <p:spPr>
          <a:xfrm>
            <a:off x="7667625" y="3486150"/>
            <a:ext cx="16764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수요·공급 제약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E331D159-82AD-4AE2-9BA8-C78AA287B21C}"/>
              </a:ext>
            </a:extLst>
          </p:cNvPr>
          <p:cNvSpPr>
            <a:spLocks noGrp="1"/>
          </p:cNvSpPr>
          <p:nvPr/>
        </p:nvSpPr>
        <p:spPr>
          <a:xfrm>
            <a:off x="9544050" y="2895600"/>
            <a:ext cx="247650" cy="419100"/>
          </a:xfrm>
          <a:prstGeom prst="rightArrow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4B77E92-5CD9-44CE-9A35-35A17C7E3100}"/>
              </a:ext>
            </a:extLst>
          </p:cNvPr>
          <p:cNvSpPr>
            <a:spLocks noGrp="1"/>
          </p:cNvSpPr>
          <p:nvPr/>
        </p:nvSpPr>
        <p:spPr>
          <a:xfrm>
            <a:off x="9829800" y="2114550"/>
            <a:ext cx="2047875" cy="2076450"/>
          </a:xfrm>
          <a:prstGeom prst="roundRect">
            <a:avLst>
              <a:gd name="adj" fmla="val 3721"/>
            </a:avLst>
          </a:prstGeom>
          <a:solidFill>
            <a:srgbClr val="102945"/>
          </a:solidFill>
          <a:ln w="9525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FA717FF-3DCD-4E5A-82B5-99A0900B3C71}"/>
              </a:ext>
            </a:extLst>
          </p:cNvPr>
          <p:cNvSpPr>
            <a:spLocks noGrp="1"/>
          </p:cNvSpPr>
          <p:nvPr/>
        </p:nvSpPr>
        <p:spPr>
          <a:xfrm>
            <a:off x="10020300" y="2305050"/>
            <a:ext cx="419100" cy="4191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0A551E-342E-4760-B59F-2896ED396811}"/>
              </a:ext>
            </a:extLst>
          </p:cNvPr>
          <p:cNvSpPr>
            <a:spLocks noGrp="1"/>
          </p:cNvSpPr>
          <p:nvPr/>
        </p:nvSpPr>
        <p:spPr>
          <a:xfrm>
            <a:off x="10020300" y="236220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0BACAA-5A18-4785-B1C5-755347BB13CB}"/>
              </a:ext>
            </a:extLst>
          </p:cNvPr>
          <p:cNvSpPr>
            <a:spLocks noGrp="1"/>
          </p:cNvSpPr>
          <p:nvPr/>
        </p:nvSpPr>
        <p:spPr>
          <a:xfrm>
            <a:off x="10020300" y="2914650"/>
            <a:ext cx="16764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영향 요약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2FD7CCA-3177-4F45-B8A4-670D44665B84}"/>
              </a:ext>
            </a:extLst>
          </p:cNvPr>
          <p:cNvSpPr>
            <a:spLocks noGrp="1"/>
          </p:cNvSpPr>
          <p:nvPr/>
        </p:nvSpPr>
        <p:spPr>
          <a:xfrm>
            <a:off x="10020300" y="3486150"/>
            <a:ext cx="16764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수혜·위험 섹터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A2B59F0-AD97-48DC-80E7-F01A9ECC6116}"/>
              </a:ext>
            </a:extLst>
          </p:cNvPr>
          <p:cNvSpPr>
            <a:spLocks noGrp="1"/>
          </p:cNvSpPr>
          <p:nvPr/>
        </p:nvSpPr>
        <p:spPr>
          <a:xfrm>
            <a:off x="571500" y="4905375"/>
            <a:ext cx="11049000" cy="838200"/>
          </a:xfrm>
          <a:prstGeom prst="roundRect">
            <a:avLst>
              <a:gd name="adj" fmla="val 9091"/>
            </a:avLst>
          </a:prstGeom>
          <a:solidFill>
            <a:srgbClr val="182F4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AF4A23-8F3A-45D9-BD7D-E7D4067CC1AE}"/>
              </a:ext>
            </a:extLst>
          </p:cNvPr>
          <p:cNvSpPr>
            <a:spLocks noGrp="1"/>
          </p:cNvSpPr>
          <p:nvPr/>
        </p:nvSpPr>
        <p:spPr>
          <a:xfrm>
            <a:off x="781050" y="5038725"/>
            <a:ext cx="11049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결과 예시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DE0A2E-2309-4564-A7BE-42A971A91A3F}"/>
              </a:ext>
            </a:extLst>
          </p:cNvPr>
          <p:cNvSpPr>
            <a:spLocks noGrp="1"/>
          </p:cNvSpPr>
          <p:nvPr/>
        </p:nvSpPr>
        <p:spPr>
          <a:xfrm>
            <a:off x="781050" y="5324475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Azure 성장 가속 + CapEx 상향 + 전력 제약 지속. AI 서버 수요는 강하지만, 전력·냉각 병목이 매출 인식 속도를 제한</a:t>
            </a:r>
          </a:p>
        </p:txBody>
      </p:sp>
    </p:spTree>
    <p:extLst>
      <p:ext uri="{BB962C8B-B14F-4D97-AF65-F5344CB8AC3E}">
        <p14:creationId xmlns:p14="http://schemas.microsoft.com/office/powerpoint/2010/main" val="1925847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5A5FC614-DA3F-44F4-8305-4FA01324F7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CCECB5-DDA1-4A09-BD5D-0C4D6D6B61C3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빅테크 실적은 공급망 투자 논리로 번역한다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662339-D974-4FB2-A551-5FD6EA7D14E8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1009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매출 성장만 보지 않고 CapEx의 목적과 병목을 확인한다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7AEB51-8417-4CE9-A3E1-9E26E51956C8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609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7FC0C48-B9A5-495D-B388-8C9236C52771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2333625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D3E3A1-2D24-44FA-A766-AAA982F9CE7B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2333625" cy="1143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EC9A9C-7D3F-403A-AA10-73354721A261}"/>
              </a:ext>
            </a:extLst>
          </p:cNvPr>
          <p:cNvSpPr>
            <a:spLocks noGrp="1"/>
          </p:cNvSpPr>
          <p:nvPr/>
        </p:nvSpPr>
        <p:spPr>
          <a:xfrm>
            <a:off x="933450" y="2209800"/>
            <a:ext cx="1952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Cloud 수요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D5B5E4-E4E1-4C79-A306-8D0D198A2603}"/>
              </a:ext>
            </a:extLst>
          </p:cNvPr>
          <p:cNvSpPr>
            <a:spLocks noGrp="1"/>
          </p:cNvSpPr>
          <p:nvPr/>
        </p:nvSpPr>
        <p:spPr>
          <a:xfrm>
            <a:off x="933450" y="2800350"/>
            <a:ext cx="1952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Azure · AWS</a:t>
            </a:r>
          </a:p>
          <a:p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Google Cloud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79BB299-2EF7-4E85-B250-421EDC64AC25}"/>
              </a:ext>
            </a:extLst>
          </p:cNvPr>
          <p:cNvSpPr>
            <a:spLocks noGrp="1"/>
          </p:cNvSpPr>
          <p:nvPr/>
        </p:nvSpPr>
        <p:spPr>
          <a:xfrm>
            <a:off x="3105150" y="2581275"/>
            <a:ext cx="381000" cy="438150"/>
          </a:xfrm>
          <a:prstGeom prst="rightArrow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411411-9A79-4CF7-BF70-F21E1E640F32}"/>
              </a:ext>
            </a:extLst>
          </p:cNvPr>
          <p:cNvSpPr>
            <a:spLocks noGrp="1"/>
          </p:cNvSpPr>
          <p:nvPr/>
        </p:nvSpPr>
        <p:spPr>
          <a:xfrm>
            <a:off x="3543300" y="1847850"/>
            <a:ext cx="2333625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8B5C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987BB3-5410-4A3F-9058-423A6CF353B3}"/>
              </a:ext>
            </a:extLst>
          </p:cNvPr>
          <p:cNvSpPr>
            <a:spLocks noGrp="1"/>
          </p:cNvSpPr>
          <p:nvPr/>
        </p:nvSpPr>
        <p:spPr>
          <a:xfrm>
            <a:off x="3543300" y="1847850"/>
            <a:ext cx="2333625" cy="1143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B50A45-6DBF-4C75-9F94-CC94A2749023}"/>
              </a:ext>
            </a:extLst>
          </p:cNvPr>
          <p:cNvSpPr>
            <a:spLocks noGrp="1"/>
          </p:cNvSpPr>
          <p:nvPr/>
        </p:nvSpPr>
        <p:spPr>
          <a:xfrm>
            <a:off x="3733800" y="2209800"/>
            <a:ext cx="1952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AI Compute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6CAE2A-73C2-4493-BDC6-A98CF1BF9890}"/>
              </a:ext>
            </a:extLst>
          </p:cNvPr>
          <p:cNvSpPr>
            <a:spLocks noGrp="1"/>
          </p:cNvSpPr>
          <p:nvPr/>
        </p:nvSpPr>
        <p:spPr>
          <a:xfrm>
            <a:off x="3733800" y="2800350"/>
            <a:ext cx="1952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GPU · HBM</a:t>
            </a:r>
          </a:p>
          <a:p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Networking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590CADF-AD46-428F-A85D-5B7AB6EB8A85}"/>
              </a:ext>
            </a:extLst>
          </p:cNvPr>
          <p:cNvSpPr>
            <a:spLocks noGrp="1"/>
          </p:cNvSpPr>
          <p:nvPr/>
        </p:nvSpPr>
        <p:spPr>
          <a:xfrm>
            <a:off x="5905500" y="2581275"/>
            <a:ext cx="381000" cy="438150"/>
          </a:xfrm>
          <a:prstGeom prst="rightArrow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1CD39E-C730-43F5-99B4-E2E52D36FCB8}"/>
              </a:ext>
            </a:extLst>
          </p:cNvPr>
          <p:cNvSpPr>
            <a:spLocks noGrp="1"/>
          </p:cNvSpPr>
          <p:nvPr/>
        </p:nvSpPr>
        <p:spPr>
          <a:xfrm>
            <a:off x="6343650" y="1847850"/>
            <a:ext cx="2333625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22ABF5-F2AA-441D-8DB2-2028A8B5C5B2}"/>
              </a:ext>
            </a:extLst>
          </p:cNvPr>
          <p:cNvSpPr>
            <a:spLocks noGrp="1"/>
          </p:cNvSpPr>
          <p:nvPr/>
        </p:nvSpPr>
        <p:spPr>
          <a:xfrm>
            <a:off x="6343650" y="1847850"/>
            <a:ext cx="2333625" cy="1143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C2E2DA-924C-468B-9A9E-E3F5EB08CB46}"/>
              </a:ext>
            </a:extLst>
          </p:cNvPr>
          <p:cNvSpPr>
            <a:spLocks noGrp="1"/>
          </p:cNvSpPr>
          <p:nvPr/>
        </p:nvSpPr>
        <p:spPr>
          <a:xfrm>
            <a:off x="6534150" y="2209800"/>
            <a:ext cx="1952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Physical DC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2E3EB3-6FEA-4DEA-8E00-ECA8A73E61C7}"/>
              </a:ext>
            </a:extLst>
          </p:cNvPr>
          <p:cNvSpPr>
            <a:spLocks noGrp="1"/>
          </p:cNvSpPr>
          <p:nvPr/>
        </p:nvSpPr>
        <p:spPr>
          <a:xfrm>
            <a:off x="6534150" y="2800350"/>
            <a:ext cx="1952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Server · Rack</a:t>
            </a:r>
          </a:p>
          <a:p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Cooling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9BD956D-6066-4CB3-ACA9-6A37217ED3E4}"/>
              </a:ext>
            </a:extLst>
          </p:cNvPr>
          <p:cNvSpPr>
            <a:spLocks noGrp="1"/>
          </p:cNvSpPr>
          <p:nvPr/>
        </p:nvSpPr>
        <p:spPr>
          <a:xfrm>
            <a:off x="8705850" y="2581275"/>
            <a:ext cx="381000" cy="438150"/>
          </a:xfrm>
          <a:prstGeom prst="rightArrow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E6DB7-3E50-41D1-B4A8-8DDD49355CC9}"/>
              </a:ext>
            </a:extLst>
          </p:cNvPr>
          <p:cNvSpPr>
            <a:spLocks noGrp="1"/>
          </p:cNvSpPr>
          <p:nvPr/>
        </p:nvSpPr>
        <p:spPr>
          <a:xfrm>
            <a:off x="9144000" y="1847850"/>
            <a:ext cx="2333625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3B26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BD0E00-EF7C-48F4-8C0D-9C63461AD08B}"/>
              </a:ext>
            </a:extLst>
          </p:cNvPr>
          <p:cNvSpPr>
            <a:spLocks noGrp="1"/>
          </p:cNvSpPr>
          <p:nvPr/>
        </p:nvSpPr>
        <p:spPr>
          <a:xfrm>
            <a:off x="9144000" y="1847850"/>
            <a:ext cx="2333625" cy="114300"/>
          </a:xfrm>
          <a:prstGeom prst="rect">
            <a:avLst/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3F0F38-2F0E-41A0-9D0D-B989EEAA9268}"/>
              </a:ext>
            </a:extLst>
          </p:cNvPr>
          <p:cNvSpPr>
            <a:spLocks noGrp="1"/>
          </p:cNvSpPr>
          <p:nvPr/>
        </p:nvSpPr>
        <p:spPr>
          <a:xfrm>
            <a:off x="9334500" y="2209800"/>
            <a:ext cx="1952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Power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56FD76-34E0-43C6-9D54-477C86AC1DE3}"/>
              </a:ext>
            </a:extLst>
          </p:cNvPr>
          <p:cNvSpPr>
            <a:spLocks noGrp="1"/>
          </p:cNvSpPr>
          <p:nvPr/>
        </p:nvSpPr>
        <p:spPr>
          <a:xfrm>
            <a:off x="9334500" y="2800350"/>
            <a:ext cx="1952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Transformer</a:t>
            </a:r>
          </a:p>
          <a:p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Grid · UPS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F4E17E9-F0D4-4EF4-A868-A10F835C822A}"/>
              </a:ext>
            </a:extLst>
          </p:cNvPr>
          <p:cNvSpPr>
            <a:spLocks noGrp="1"/>
          </p:cNvSpPr>
          <p:nvPr/>
        </p:nvSpPr>
        <p:spPr>
          <a:xfrm>
            <a:off x="742950" y="4352925"/>
            <a:ext cx="10734675" cy="1104900"/>
          </a:xfrm>
          <a:prstGeom prst="roundRect">
            <a:avLst>
              <a:gd name="adj" fmla="val 6897"/>
            </a:avLst>
          </a:prstGeom>
          <a:solidFill>
            <a:srgbClr val="FFF5D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B3AB41-26F4-420E-885B-0EC4F580FC7F}"/>
              </a:ext>
            </a:extLst>
          </p:cNvPr>
          <p:cNvSpPr>
            <a:spLocks noGrp="1"/>
          </p:cNvSpPr>
          <p:nvPr/>
        </p:nvSpPr>
        <p:spPr>
          <a:xfrm>
            <a:off x="952500" y="450532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해석 원칙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0E7D2B-4EE3-4161-B725-1BC03EAA16C3}"/>
              </a:ext>
            </a:extLst>
          </p:cNvPr>
          <p:cNvSpPr>
            <a:spLocks noGrp="1"/>
          </p:cNvSpPr>
          <p:nvPr/>
        </p:nvSpPr>
        <p:spPr>
          <a:xfrm>
            <a:off x="952500" y="4829175"/>
            <a:ext cx="10096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CapEx 상향은 공급망 전체에 같은 호재가 아니다. 투자 항목, 납품 시차, 생산능력, 병목 위치를 확인한 뒤 종목별 매출 전환 가능성을 판단한다.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9299AD2-6608-4A7D-9981-EC8CDEA4A66C}"/>
              </a:ext>
            </a:extLst>
          </p:cNvPr>
          <p:cNvSpPr>
            <a:spLocks noGrp="1"/>
          </p:cNvSpPr>
          <p:nvPr/>
        </p:nvSpPr>
        <p:spPr>
          <a:xfrm>
            <a:off x="6667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AABF7A-37B4-437E-94A1-AF296A24909E}"/>
              </a:ext>
            </a:extLst>
          </p:cNvPr>
          <p:cNvSpPr>
            <a:spLocks noGrp="1"/>
          </p:cNvSpPr>
          <p:nvPr/>
        </p:nvSpPr>
        <p:spPr>
          <a:xfrm>
            <a:off x="7048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5609579-0AE9-4C01-B850-161653FC18CD}"/>
              </a:ext>
            </a:extLst>
          </p:cNvPr>
          <p:cNvSpPr>
            <a:spLocks noGrp="1"/>
          </p:cNvSpPr>
          <p:nvPr/>
        </p:nvSpPr>
        <p:spPr>
          <a:xfrm>
            <a:off x="29146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E98CB6-8C37-4108-9C9B-63CF6BD627A3}"/>
              </a:ext>
            </a:extLst>
          </p:cNvPr>
          <p:cNvSpPr>
            <a:spLocks noGrp="1"/>
          </p:cNvSpPr>
          <p:nvPr/>
        </p:nvSpPr>
        <p:spPr>
          <a:xfrm>
            <a:off x="29527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871C893-12F9-4D81-AF34-C6DBD3FE91AD}"/>
              </a:ext>
            </a:extLst>
          </p:cNvPr>
          <p:cNvSpPr>
            <a:spLocks noGrp="1"/>
          </p:cNvSpPr>
          <p:nvPr/>
        </p:nvSpPr>
        <p:spPr>
          <a:xfrm>
            <a:off x="51625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2A1A14-F822-438B-825C-2810447D98FF}"/>
              </a:ext>
            </a:extLst>
          </p:cNvPr>
          <p:cNvSpPr>
            <a:spLocks noGrp="1"/>
          </p:cNvSpPr>
          <p:nvPr/>
        </p:nvSpPr>
        <p:spPr>
          <a:xfrm>
            <a:off x="52006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D6C2A36-DDA1-4C2E-B5F0-C39E604DF178}"/>
              </a:ext>
            </a:extLst>
          </p:cNvPr>
          <p:cNvSpPr>
            <a:spLocks noGrp="1"/>
          </p:cNvSpPr>
          <p:nvPr/>
        </p:nvSpPr>
        <p:spPr>
          <a:xfrm>
            <a:off x="74104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D7B79B-2FBA-4CF3-847D-145E521F30F7}"/>
              </a:ext>
            </a:extLst>
          </p:cNvPr>
          <p:cNvSpPr>
            <a:spLocks noGrp="1"/>
          </p:cNvSpPr>
          <p:nvPr/>
        </p:nvSpPr>
        <p:spPr>
          <a:xfrm>
            <a:off x="74485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78E9501-DA61-44F0-A2A2-55C02C5FF2CA}"/>
              </a:ext>
            </a:extLst>
          </p:cNvPr>
          <p:cNvSpPr>
            <a:spLocks noGrp="1"/>
          </p:cNvSpPr>
          <p:nvPr/>
        </p:nvSpPr>
        <p:spPr>
          <a:xfrm>
            <a:off x="96583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7700E7-374D-4034-AAA5-9120CCB32D03}"/>
              </a:ext>
            </a:extLst>
          </p:cNvPr>
          <p:cNvSpPr>
            <a:spLocks noGrp="1"/>
          </p:cNvSpPr>
          <p:nvPr/>
        </p:nvSpPr>
        <p:spPr>
          <a:xfrm>
            <a:off x="96964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1255509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C650ED0-68C2-4A10-81C0-D8CA9E34DB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B95BB3-BF26-47CC-AFE0-86283313B943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4단계: 좋은 섹터 안에서 좋은 기업을 고른다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0691F2-A6B6-47FF-8176-63E79A22393D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1009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realtime-financials-mock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48EB1E-9966-49A1-8C86-92474C3C577A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609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2DBD38-0D8C-490B-84D6-88329A160BB4}"/>
              </a:ext>
            </a:extLst>
          </p:cNvPr>
          <p:cNvSpPr>
            <a:spLocks noGrp="1"/>
          </p:cNvSpPr>
          <p:nvPr/>
        </p:nvSpPr>
        <p:spPr>
          <a:xfrm>
            <a:off x="419100" y="1600200"/>
            <a:ext cx="2047875" cy="3048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3E4A07-4F8C-4E47-9060-13C7EAE059B3}"/>
              </a:ext>
            </a:extLst>
          </p:cNvPr>
          <p:cNvSpPr>
            <a:spLocks noGrp="1"/>
          </p:cNvSpPr>
          <p:nvPr/>
        </p:nvSpPr>
        <p:spPr>
          <a:xfrm>
            <a:off x="419100" y="1600200"/>
            <a:ext cx="66675" cy="3048000"/>
          </a:xfrm>
          <a:prstGeom prst="rect">
            <a:avLst/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D7011A-56C8-424C-95E5-68A731A1DFC3}"/>
              </a:ext>
            </a:extLst>
          </p:cNvPr>
          <p:cNvSpPr>
            <a:spLocks noGrp="1"/>
          </p:cNvSpPr>
          <p:nvPr/>
        </p:nvSpPr>
        <p:spPr>
          <a:xfrm>
            <a:off x="628650" y="179070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23B26D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1A7065-FC7D-4B6D-AF58-C033152F6EC9}"/>
              </a:ext>
            </a:extLst>
          </p:cNvPr>
          <p:cNvSpPr>
            <a:spLocks noGrp="1"/>
          </p:cNvSpPr>
          <p:nvPr/>
        </p:nvSpPr>
        <p:spPr>
          <a:xfrm>
            <a:off x="628650" y="2190750"/>
            <a:ext cx="16287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성장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1F5EF3-0130-483C-B5B2-55C5A2054197}"/>
              </a:ext>
            </a:extLst>
          </p:cNvPr>
          <p:cNvSpPr>
            <a:spLocks noGrp="1"/>
          </p:cNvSpPr>
          <p:nvPr/>
        </p:nvSpPr>
        <p:spPr>
          <a:xfrm>
            <a:off x="628650" y="2609850"/>
            <a:ext cx="1628775" cy="1847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매출·EPS 성장률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수주잔고와 가이던스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CA857F-B06B-4CA7-9EE3-B0415DA928C9}"/>
              </a:ext>
            </a:extLst>
          </p:cNvPr>
          <p:cNvSpPr>
            <a:spLocks noGrp="1"/>
          </p:cNvSpPr>
          <p:nvPr/>
        </p:nvSpPr>
        <p:spPr>
          <a:xfrm>
            <a:off x="2771775" y="1600200"/>
            <a:ext cx="2047875" cy="3048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35EF3B-74DF-45AC-BA59-3BBB4A2A683E}"/>
              </a:ext>
            </a:extLst>
          </p:cNvPr>
          <p:cNvSpPr>
            <a:spLocks noGrp="1"/>
          </p:cNvSpPr>
          <p:nvPr/>
        </p:nvSpPr>
        <p:spPr>
          <a:xfrm>
            <a:off x="2771775" y="1600200"/>
            <a:ext cx="66675" cy="3048000"/>
          </a:xfrm>
          <a:prstGeom prst="rect">
            <a:avLst/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65EDF97-FE8B-4DEB-BB6A-82DA589920FA}"/>
              </a:ext>
            </a:extLst>
          </p:cNvPr>
          <p:cNvSpPr>
            <a:spLocks noGrp="1"/>
          </p:cNvSpPr>
          <p:nvPr/>
        </p:nvSpPr>
        <p:spPr>
          <a:xfrm>
            <a:off x="2981325" y="179070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23B26D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658B28-EA96-4B97-B759-189C76A1F9B8}"/>
              </a:ext>
            </a:extLst>
          </p:cNvPr>
          <p:cNvSpPr>
            <a:spLocks noGrp="1"/>
          </p:cNvSpPr>
          <p:nvPr/>
        </p:nvSpPr>
        <p:spPr>
          <a:xfrm>
            <a:off x="2981325" y="2190750"/>
            <a:ext cx="16287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수익성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6147CA-B183-4433-BD26-1457AB2BEB75}"/>
              </a:ext>
            </a:extLst>
          </p:cNvPr>
          <p:cNvSpPr>
            <a:spLocks noGrp="1"/>
          </p:cNvSpPr>
          <p:nvPr/>
        </p:nvSpPr>
        <p:spPr>
          <a:xfrm>
            <a:off x="2981325" y="2609850"/>
            <a:ext cx="1628775" cy="1847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영업이익률·ROE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현금흐름 전환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4DE8E01-2F1E-4D72-8A12-E7BDBE9ACA0F}"/>
              </a:ext>
            </a:extLst>
          </p:cNvPr>
          <p:cNvSpPr>
            <a:spLocks noGrp="1"/>
          </p:cNvSpPr>
          <p:nvPr/>
        </p:nvSpPr>
        <p:spPr>
          <a:xfrm>
            <a:off x="5124450" y="1600200"/>
            <a:ext cx="2047875" cy="3048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22927D-CA25-4A27-8E89-2EC2C85D755B}"/>
              </a:ext>
            </a:extLst>
          </p:cNvPr>
          <p:cNvSpPr>
            <a:spLocks noGrp="1"/>
          </p:cNvSpPr>
          <p:nvPr/>
        </p:nvSpPr>
        <p:spPr>
          <a:xfrm>
            <a:off x="5124450" y="1600200"/>
            <a:ext cx="66675" cy="3048000"/>
          </a:xfrm>
          <a:prstGeom prst="rect">
            <a:avLst/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0B4FDC6-CE4C-46B8-A836-A17C9F50C725}"/>
              </a:ext>
            </a:extLst>
          </p:cNvPr>
          <p:cNvSpPr>
            <a:spLocks noGrp="1"/>
          </p:cNvSpPr>
          <p:nvPr/>
        </p:nvSpPr>
        <p:spPr>
          <a:xfrm>
            <a:off x="5334000" y="179070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23B26D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61AD6B-53D8-4B9B-B968-9C242D96EB6E}"/>
              </a:ext>
            </a:extLst>
          </p:cNvPr>
          <p:cNvSpPr>
            <a:spLocks noGrp="1"/>
          </p:cNvSpPr>
          <p:nvPr/>
        </p:nvSpPr>
        <p:spPr>
          <a:xfrm>
            <a:off x="5334000" y="2190750"/>
            <a:ext cx="16287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재무안정성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69AF6-8A17-4809-A551-17CEFEB881A0}"/>
              </a:ext>
            </a:extLst>
          </p:cNvPr>
          <p:cNvSpPr>
            <a:spLocks noGrp="1"/>
          </p:cNvSpPr>
          <p:nvPr/>
        </p:nvSpPr>
        <p:spPr>
          <a:xfrm>
            <a:off x="5334000" y="2609850"/>
            <a:ext cx="1628775" cy="1847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부채·이자보상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현금과 희석 위험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DDC417-3E8B-45F8-9F41-48F10D2CBB14}"/>
              </a:ext>
            </a:extLst>
          </p:cNvPr>
          <p:cNvSpPr>
            <a:spLocks noGrp="1"/>
          </p:cNvSpPr>
          <p:nvPr/>
        </p:nvSpPr>
        <p:spPr>
          <a:xfrm>
            <a:off x="7477125" y="1600200"/>
            <a:ext cx="2047875" cy="3048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540B08-2264-459A-9D5A-E78BD09204E2}"/>
              </a:ext>
            </a:extLst>
          </p:cNvPr>
          <p:cNvSpPr>
            <a:spLocks noGrp="1"/>
          </p:cNvSpPr>
          <p:nvPr/>
        </p:nvSpPr>
        <p:spPr>
          <a:xfrm>
            <a:off x="7477125" y="1600200"/>
            <a:ext cx="66675" cy="3048000"/>
          </a:xfrm>
          <a:prstGeom prst="rect">
            <a:avLst/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29C9883-1905-49C5-AED4-AE309F8F8EED}"/>
              </a:ext>
            </a:extLst>
          </p:cNvPr>
          <p:cNvSpPr>
            <a:spLocks noGrp="1"/>
          </p:cNvSpPr>
          <p:nvPr/>
        </p:nvSpPr>
        <p:spPr>
          <a:xfrm>
            <a:off x="7686675" y="179070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23B26D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1E8E81-15B2-42DB-83B6-1C3B9A06A1BD}"/>
              </a:ext>
            </a:extLst>
          </p:cNvPr>
          <p:cNvSpPr>
            <a:spLocks noGrp="1"/>
          </p:cNvSpPr>
          <p:nvPr/>
        </p:nvSpPr>
        <p:spPr>
          <a:xfrm>
            <a:off x="7686675" y="2190750"/>
            <a:ext cx="16287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밸류에이션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07AFC8-D256-4D3F-AE6A-E8D578E4F470}"/>
              </a:ext>
            </a:extLst>
          </p:cNvPr>
          <p:cNvSpPr>
            <a:spLocks noGrp="1"/>
          </p:cNvSpPr>
          <p:nvPr/>
        </p:nvSpPr>
        <p:spPr>
          <a:xfrm>
            <a:off x="7686675" y="2609850"/>
            <a:ext cx="1628775" cy="1847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PER·EV/EBITDA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성장 대비 가격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410C98F-3663-4BAD-8730-D2759154BA4C}"/>
              </a:ext>
            </a:extLst>
          </p:cNvPr>
          <p:cNvSpPr>
            <a:spLocks noGrp="1"/>
          </p:cNvSpPr>
          <p:nvPr/>
        </p:nvSpPr>
        <p:spPr>
          <a:xfrm>
            <a:off x="9829800" y="1600200"/>
            <a:ext cx="2047875" cy="3048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87EC15-A55C-43EC-BC4F-90457DC9AE2D}"/>
              </a:ext>
            </a:extLst>
          </p:cNvPr>
          <p:cNvSpPr>
            <a:spLocks noGrp="1"/>
          </p:cNvSpPr>
          <p:nvPr/>
        </p:nvSpPr>
        <p:spPr>
          <a:xfrm>
            <a:off x="9829800" y="1600200"/>
            <a:ext cx="66675" cy="3048000"/>
          </a:xfrm>
          <a:prstGeom prst="rect">
            <a:avLst/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21AB3D2-396C-4406-899B-0931FB6A7B19}"/>
              </a:ext>
            </a:extLst>
          </p:cNvPr>
          <p:cNvSpPr>
            <a:spLocks noGrp="1"/>
          </p:cNvSpPr>
          <p:nvPr/>
        </p:nvSpPr>
        <p:spPr>
          <a:xfrm>
            <a:off x="10039350" y="179070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23B26D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041388-538C-4D83-853E-D2512F9BF0A6}"/>
              </a:ext>
            </a:extLst>
          </p:cNvPr>
          <p:cNvSpPr>
            <a:spLocks noGrp="1"/>
          </p:cNvSpPr>
          <p:nvPr/>
        </p:nvSpPr>
        <p:spPr>
          <a:xfrm>
            <a:off x="10039350" y="2190750"/>
            <a:ext cx="16287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촉매와 위험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5B11AF-E32C-490F-A361-8F4EDC34EB09}"/>
              </a:ext>
            </a:extLst>
          </p:cNvPr>
          <p:cNvSpPr>
            <a:spLocks noGrp="1"/>
          </p:cNvSpPr>
          <p:nvPr/>
        </p:nvSpPr>
        <p:spPr>
          <a:xfrm>
            <a:off x="10039350" y="2609850"/>
            <a:ext cx="1628775" cy="1847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실적 일정·정책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고객 집중·공급 제약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F7B78E-5A92-4BEB-9B73-FD5F81106028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출력: 종목 점수, 투자 논리, 반증 조건, 관찰 가격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2602C9D-28E6-438B-B188-E25000C30BFA}"/>
              </a:ext>
            </a:extLst>
          </p:cNvPr>
          <p:cNvSpPr>
            <a:spLocks noGrp="1"/>
          </p:cNvSpPr>
          <p:nvPr/>
        </p:nvSpPr>
        <p:spPr>
          <a:xfrm>
            <a:off x="6667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25558F-255C-42CD-9FEB-F77EB22BFF49}"/>
              </a:ext>
            </a:extLst>
          </p:cNvPr>
          <p:cNvSpPr>
            <a:spLocks noGrp="1"/>
          </p:cNvSpPr>
          <p:nvPr/>
        </p:nvSpPr>
        <p:spPr>
          <a:xfrm>
            <a:off x="7048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A3D8511-DD73-4243-AB06-D4290A5924CE}"/>
              </a:ext>
            </a:extLst>
          </p:cNvPr>
          <p:cNvSpPr>
            <a:spLocks noGrp="1"/>
          </p:cNvSpPr>
          <p:nvPr/>
        </p:nvSpPr>
        <p:spPr>
          <a:xfrm>
            <a:off x="29146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8B629A-A0DB-4787-AEC4-DABD96E9DB48}"/>
              </a:ext>
            </a:extLst>
          </p:cNvPr>
          <p:cNvSpPr>
            <a:spLocks noGrp="1"/>
          </p:cNvSpPr>
          <p:nvPr/>
        </p:nvSpPr>
        <p:spPr>
          <a:xfrm>
            <a:off x="29527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F86A0FC-EFEA-47C5-B4A2-33C7F5B3D502}"/>
              </a:ext>
            </a:extLst>
          </p:cNvPr>
          <p:cNvSpPr>
            <a:spLocks noGrp="1"/>
          </p:cNvSpPr>
          <p:nvPr/>
        </p:nvSpPr>
        <p:spPr>
          <a:xfrm>
            <a:off x="51625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CD777E7-6480-4094-9CD8-A0763C685399}"/>
              </a:ext>
            </a:extLst>
          </p:cNvPr>
          <p:cNvSpPr>
            <a:spLocks noGrp="1"/>
          </p:cNvSpPr>
          <p:nvPr/>
        </p:nvSpPr>
        <p:spPr>
          <a:xfrm>
            <a:off x="52006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B7B0654-A339-4FBF-991D-7D902B1ED1B8}"/>
              </a:ext>
            </a:extLst>
          </p:cNvPr>
          <p:cNvSpPr>
            <a:spLocks noGrp="1"/>
          </p:cNvSpPr>
          <p:nvPr/>
        </p:nvSpPr>
        <p:spPr>
          <a:xfrm>
            <a:off x="74104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04B3B5-EB8C-4248-8FC8-8838F1E4EDFB}"/>
              </a:ext>
            </a:extLst>
          </p:cNvPr>
          <p:cNvSpPr>
            <a:spLocks noGrp="1"/>
          </p:cNvSpPr>
          <p:nvPr/>
        </p:nvSpPr>
        <p:spPr>
          <a:xfrm>
            <a:off x="74485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93A9C79-98F3-4CF4-BA90-6AA84649D268}"/>
              </a:ext>
            </a:extLst>
          </p:cNvPr>
          <p:cNvSpPr>
            <a:spLocks noGrp="1"/>
          </p:cNvSpPr>
          <p:nvPr/>
        </p:nvSpPr>
        <p:spPr>
          <a:xfrm>
            <a:off x="96583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2E7A15E-C23B-4428-BA92-A4E5AB7ECB55}"/>
              </a:ext>
            </a:extLst>
          </p:cNvPr>
          <p:cNvSpPr>
            <a:spLocks noGrp="1"/>
          </p:cNvSpPr>
          <p:nvPr/>
        </p:nvSpPr>
        <p:spPr>
          <a:xfrm>
            <a:off x="96964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1571095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2B75A35-2851-422A-94ED-775E0C21BF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A19BE7-CAEE-4BE6-90DA-3A9A16CFB0D9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종목 점수는 선택 이유와 제외 이유를 동시에 남긴다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15E8EA-5979-478E-BF30-8A9231C36E54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1009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후보 선정과 리스크 관리에 같은 기준을 사용한다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A41324-47BE-49F8-B9A4-D7AB60071E32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609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CB70B-061A-44B8-9787-5193BA4A17E0}"/>
              </a:ext>
            </a:extLst>
          </p:cNvPr>
          <p:cNvSpPr>
            <a:spLocks noGrp="1"/>
          </p:cNvSpPr>
          <p:nvPr/>
        </p:nvSpPr>
        <p:spPr>
          <a:xfrm>
            <a:off x="723900" y="1438275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평가 항목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4024F2-C4DB-4B79-94FF-0E036D4EAAC4}"/>
              </a:ext>
            </a:extLst>
          </p:cNvPr>
          <p:cNvSpPr>
            <a:spLocks noGrp="1"/>
          </p:cNvSpPr>
          <p:nvPr/>
        </p:nvSpPr>
        <p:spPr>
          <a:xfrm>
            <a:off x="4238625" y="1438275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가중치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DF55CF-ED66-4D03-A79F-13C6049CB5AB}"/>
              </a:ext>
            </a:extLst>
          </p:cNvPr>
          <p:cNvSpPr>
            <a:spLocks noGrp="1"/>
          </p:cNvSpPr>
          <p:nvPr/>
        </p:nvSpPr>
        <p:spPr>
          <a:xfrm>
            <a:off x="6000750" y="1438275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질문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CBE885-B5F9-4CE6-99EF-8CBBA75C5CF2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0648950" cy="514350"/>
          </a:xfrm>
          <a:prstGeom prst="roundRect">
            <a:avLst>
              <a:gd name="adj" fmla="val 14815"/>
            </a:avLst>
          </a:prstGeom>
          <a:solidFill>
            <a:srgbClr val="EFF8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621C72-7163-4598-8753-7A520C97998D}"/>
              </a:ext>
            </a:extLst>
          </p:cNvPr>
          <p:cNvSpPr>
            <a:spLocks noGrp="1"/>
          </p:cNvSpPr>
          <p:nvPr/>
        </p:nvSpPr>
        <p:spPr>
          <a:xfrm>
            <a:off x="838200" y="19240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성장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8C2BEB-BFCD-42A1-8EEC-C5E59D5E918D}"/>
              </a:ext>
            </a:extLst>
          </p:cNvPr>
          <p:cNvSpPr>
            <a:spLocks noGrp="1"/>
          </p:cNvSpPr>
          <p:nvPr/>
        </p:nvSpPr>
        <p:spPr>
          <a:xfrm>
            <a:off x="4238625" y="1924050"/>
            <a:ext cx="114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25%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3B0044-DDEA-4B8B-B437-A05FD1AFC72C}"/>
              </a:ext>
            </a:extLst>
          </p:cNvPr>
          <p:cNvSpPr>
            <a:spLocks noGrp="1"/>
          </p:cNvSpPr>
          <p:nvPr/>
        </p:nvSpPr>
        <p:spPr>
          <a:xfrm>
            <a:off x="6000750" y="19240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최근 성장과 향후 가이던스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0D3A6A-39E9-42E0-BD07-91519F6AB55B}"/>
              </a:ext>
            </a:extLst>
          </p:cNvPr>
          <p:cNvSpPr>
            <a:spLocks noGrp="1"/>
          </p:cNvSpPr>
          <p:nvPr/>
        </p:nvSpPr>
        <p:spPr>
          <a:xfrm>
            <a:off x="647700" y="2514600"/>
            <a:ext cx="10648950" cy="514350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9DF571-2B2F-46C1-8BFA-5B758942CF28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수익성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60ECF3-443F-43A9-9F4F-67736CCA3B1B}"/>
              </a:ext>
            </a:extLst>
          </p:cNvPr>
          <p:cNvSpPr>
            <a:spLocks noGrp="1"/>
          </p:cNvSpPr>
          <p:nvPr/>
        </p:nvSpPr>
        <p:spPr>
          <a:xfrm>
            <a:off x="4238625" y="2571750"/>
            <a:ext cx="114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20%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02584D-60D5-4F96-ADE5-ADFD0746A1E4}"/>
              </a:ext>
            </a:extLst>
          </p:cNvPr>
          <p:cNvSpPr>
            <a:spLocks noGrp="1"/>
          </p:cNvSpPr>
          <p:nvPr/>
        </p:nvSpPr>
        <p:spPr>
          <a:xfrm>
            <a:off x="6000750" y="25717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마진과 현금흐름의 질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E5F127-0FE3-4814-AFDF-3BC7BB331F16}"/>
              </a:ext>
            </a:extLst>
          </p:cNvPr>
          <p:cNvSpPr>
            <a:spLocks noGrp="1"/>
          </p:cNvSpPr>
          <p:nvPr/>
        </p:nvSpPr>
        <p:spPr>
          <a:xfrm>
            <a:off x="647700" y="3162300"/>
            <a:ext cx="10648950" cy="514350"/>
          </a:xfrm>
          <a:prstGeom prst="roundRect">
            <a:avLst>
              <a:gd name="adj" fmla="val 14815"/>
            </a:avLst>
          </a:prstGeom>
          <a:solidFill>
            <a:srgbClr val="EFF8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977DBB-5BCC-4042-BF3D-BCDA1A254291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재무안정성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1BACF2-79B1-4E44-B530-4BDC35D70909}"/>
              </a:ext>
            </a:extLst>
          </p:cNvPr>
          <p:cNvSpPr>
            <a:spLocks noGrp="1"/>
          </p:cNvSpPr>
          <p:nvPr/>
        </p:nvSpPr>
        <p:spPr>
          <a:xfrm>
            <a:off x="4238625" y="3219450"/>
            <a:ext cx="114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15%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6F5DF7-D9BF-4784-8177-21635DA3BFC7}"/>
              </a:ext>
            </a:extLst>
          </p:cNvPr>
          <p:cNvSpPr>
            <a:spLocks noGrp="1"/>
          </p:cNvSpPr>
          <p:nvPr/>
        </p:nvSpPr>
        <p:spPr>
          <a:xfrm>
            <a:off x="6000750" y="32194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부채와 자금조달 위험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4B0B65-6109-4F3C-A1A8-ADE9E134BBE5}"/>
              </a:ext>
            </a:extLst>
          </p:cNvPr>
          <p:cNvSpPr>
            <a:spLocks noGrp="1"/>
          </p:cNvSpPr>
          <p:nvPr/>
        </p:nvSpPr>
        <p:spPr>
          <a:xfrm>
            <a:off x="647700" y="3810000"/>
            <a:ext cx="10648950" cy="514350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D936A5-72AB-41AA-A336-58BE810CA008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밸류에이션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766F4C-7368-4DCF-959F-D18B5200860D}"/>
              </a:ext>
            </a:extLst>
          </p:cNvPr>
          <p:cNvSpPr>
            <a:spLocks noGrp="1"/>
          </p:cNvSpPr>
          <p:nvPr/>
        </p:nvSpPr>
        <p:spPr>
          <a:xfrm>
            <a:off x="4238625" y="3867150"/>
            <a:ext cx="114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20%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041A21-7119-48A1-A8BA-940747B878FE}"/>
              </a:ext>
            </a:extLst>
          </p:cNvPr>
          <p:cNvSpPr>
            <a:spLocks noGrp="1"/>
          </p:cNvSpPr>
          <p:nvPr/>
        </p:nvSpPr>
        <p:spPr>
          <a:xfrm>
            <a:off x="6000750" y="38671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역사·동종업계 대비 가격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3078EA2-B2C8-4DFB-AEDA-9CD1D61E7448}"/>
              </a:ext>
            </a:extLst>
          </p:cNvPr>
          <p:cNvSpPr>
            <a:spLocks noGrp="1"/>
          </p:cNvSpPr>
          <p:nvPr/>
        </p:nvSpPr>
        <p:spPr>
          <a:xfrm>
            <a:off x="647700" y="4457700"/>
            <a:ext cx="10648950" cy="514350"/>
          </a:xfrm>
          <a:prstGeom prst="roundRect">
            <a:avLst>
              <a:gd name="adj" fmla="val 14815"/>
            </a:avLst>
          </a:prstGeom>
          <a:solidFill>
            <a:srgbClr val="EFF8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74EBF2-26E4-410A-A0A5-AA12799A915D}"/>
              </a:ext>
            </a:extLst>
          </p:cNvPr>
          <p:cNvSpPr>
            <a:spLocks noGrp="1"/>
          </p:cNvSpPr>
          <p:nvPr/>
        </p:nvSpPr>
        <p:spPr>
          <a:xfrm>
            <a:off x="838200" y="45148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촉매·위험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9FCB70-8322-47CF-A67A-930A3F217B4B}"/>
              </a:ext>
            </a:extLst>
          </p:cNvPr>
          <p:cNvSpPr>
            <a:spLocks noGrp="1"/>
          </p:cNvSpPr>
          <p:nvPr/>
        </p:nvSpPr>
        <p:spPr>
          <a:xfrm>
            <a:off x="4238625" y="4514850"/>
            <a:ext cx="114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20%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49DAE0-6DF5-43EB-B784-5FC410728967}"/>
              </a:ext>
            </a:extLst>
          </p:cNvPr>
          <p:cNvSpPr>
            <a:spLocks noGrp="1"/>
          </p:cNvSpPr>
          <p:nvPr/>
        </p:nvSpPr>
        <p:spPr>
          <a:xfrm>
            <a:off x="6000750" y="45148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실적 촉매와 반증 조건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13BA9C7-B7CD-470E-9169-914722D7F5E8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0648950" cy="533400"/>
          </a:xfrm>
          <a:prstGeom prst="roundRect">
            <a:avLst>
              <a:gd name="adj" fmla="val 14286"/>
            </a:avLst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C62F-054B-4C1B-877B-DAC869090E34}"/>
              </a:ext>
            </a:extLst>
          </p:cNvPr>
          <p:cNvSpPr>
            <a:spLocks noGrp="1"/>
          </p:cNvSpPr>
          <p:nvPr/>
        </p:nvSpPr>
        <p:spPr>
          <a:xfrm>
            <a:off x="800100" y="5381625"/>
            <a:ext cx="103632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75점 이상: 투자 후보   60~74점: 관찰   60점 미만: 제외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A5ADED9-9DA2-42BE-94C1-E4FE1C610659}"/>
              </a:ext>
            </a:extLst>
          </p:cNvPr>
          <p:cNvSpPr>
            <a:spLocks noGrp="1"/>
          </p:cNvSpPr>
          <p:nvPr/>
        </p:nvSpPr>
        <p:spPr>
          <a:xfrm>
            <a:off x="6667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F70531-A38D-4DEC-A2FE-4217A83D5424}"/>
              </a:ext>
            </a:extLst>
          </p:cNvPr>
          <p:cNvSpPr>
            <a:spLocks noGrp="1"/>
          </p:cNvSpPr>
          <p:nvPr/>
        </p:nvSpPr>
        <p:spPr>
          <a:xfrm>
            <a:off x="7048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964BC5C-B557-4E5A-A3E9-BC29276D8B39}"/>
              </a:ext>
            </a:extLst>
          </p:cNvPr>
          <p:cNvSpPr>
            <a:spLocks noGrp="1"/>
          </p:cNvSpPr>
          <p:nvPr/>
        </p:nvSpPr>
        <p:spPr>
          <a:xfrm>
            <a:off x="29146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82C3612-9248-45EC-91B9-35A5D4F6EB08}"/>
              </a:ext>
            </a:extLst>
          </p:cNvPr>
          <p:cNvSpPr>
            <a:spLocks noGrp="1"/>
          </p:cNvSpPr>
          <p:nvPr/>
        </p:nvSpPr>
        <p:spPr>
          <a:xfrm>
            <a:off x="29527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91894C4-1A5B-435C-A11C-6332EEBAC6AA}"/>
              </a:ext>
            </a:extLst>
          </p:cNvPr>
          <p:cNvSpPr>
            <a:spLocks noGrp="1"/>
          </p:cNvSpPr>
          <p:nvPr/>
        </p:nvSpPr>
        <p:spPr>
          <a:xfrm>
            <a:off x="51625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DC38EE0-0AD8-4125-9D19-776565DFE8BB}"/>
              </a:ext>
            </a:extLst>
          </p:cNvPr>
          <p:cNvSpPr>
            <a:spLocks noGrp="1"/>
          </p:cNvSpPr>
          <p:nvPr/>
        </p:nvSpPr>
        <p:spPr>
          <a:xfrm>
            <a:off x="52006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76E9230-BE6D-4F67-99D4-CDF636B8E390}"/>
              </a:ext>
            </a:extLst>
          </p:cNvPr>
          <p:cNvSpPr>
            <a:spLocks noGrp="1"/>
          </p:cNvSpPr>
          <p:nvPr/>
        </p:nvSpPr>
        <p:spPr>
          <a:xfrm>
            <a:off x="74104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6BDEDE-40C0-4161-A0BC-8F86C1B1A9A5}"/>
              </a:ext>
            </a:extLst>
          </p:cNvPr>
          <p:cNvSpPr>
            <a:spLocks noGrp="1"/>
          </p:cNvSpPr>
          <p:nvPr/>
        </p:nvSpPr>
        <p:spPr>
          <a:xfrm>
            <a:off x="74485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50E1C57-13B4-4AB8-85B4-9A1FB2D7A595}"/>
              </a:ext>
            </a:extLst>
          </p:cNvPr>
          <p:cNvSpPr>
            <a:spLocks noGrp="1"/>
          </p:cNvSpPr>
          <p:nvPr/>
        </p:nvSpPr>
        <p:spPr>
          <a:xfrm>
            <a:off x="96583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0F16E5D-7C13-4095-8534-85CB52E3276A}"/>
              </a:ext>
            </a:extLst>
          </p:cNvPr>
          <p:cNvSpPr>
            <a:spLocks noGrp="1"/>
          </p:cNvSpPr>
          <p:nvPr/>
        </p:nvSpPr>
        <p:spPr>
          <a:xfrm>
            <a:off x="96964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954650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D492E47-64E7-4CF1-8538-A6EDA94DFA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F5B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34AFB5-7418-4135-8BF0-76D17DE12CC9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5단계: 기술적 지표로 진입과 청산을 정한다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1C1C1-1BB0-40A3-AE2B-63E1AAC7B5B7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1009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hantu-kis-trading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7425EE-5877-4E1A-BF2E-0C23F06069DF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609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8C14CD-C277-4DDA-9558-3ABDE7A86959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333375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89F129-6C2A-4D51-AA7C-2BE43F8BFC5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66675" cy="28765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C2DCB0-A0C2-46E6-B050-303D082F0BE8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3B82F6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SIGNAL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35F54C-826D-4DFB-8655-A8EB2E3BF2AB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29146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MA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E8FA1D-B28B-4F53-BE19-F5BC03926A0A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2914650" cy="1676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방향</a:t>
            </a:r>
          </a:p>
          <a:p>
            <a:endParaRPr sz="1200" b="0">
              <a:solidFill>
                <a:srgbClr val="607087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가격이 이동평균선 위에 있는가?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단기선과 장기선의 배열은 어떤가?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284D41-9865-4416-83E8-20D8AA6C2B85}"/>
              </a:ext>
            </a:extLst>
          </p:cNvPr>
          <p:cNvSpPr>
            <a:spLocks noGrp="1"/>
          </p:cNvSpPr>
          <p:nvPr/>
        </p:nvSpPr>
        <p:spPr>
          <a:xfrm>
            <a:off x="4324350" y="1562100"/>
            <a:ext cx="333375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B93A76-95EB-40CA-88C4-E7B4251511BD}"/>
              </a:ext>
            </a:extLst>
          </p:cNvPr>
          <p:cNvSpPr>
            <a:spLocks noGrp="1"/>
          </p:cNvSpPr>
          <p:nvPr/>
        </p:nvSpPr>
        <p:spPr>
          <a:xfrm>
            <a:off x="4324350" y="1562100"/>
            <a:ext cx="66675" cy="287655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EF1B535-54B5-4A6E-BC90-8E678D92F65A}"/>
              </a:ext>
            </a:extLst>
          </p:cNvPr>
          <p:cNvSpPr>
            <a:spLocks noGrp="1"/>
          </p:cNvSpPr>
          <p:nvPr/>
        </p:nvSpPr>
        <p:spPr>
          <a:xfrm>
            <a:off x="4533900" y="175260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SIGNAL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0E07D5-03F0-4460-A958-81E7921D96A7}"/>
              </a:ext>
            </a:extLst>
          </p:cNvPr>
          <p:cNvSpPr>
            <a:spLocks noGrp="1"/>
          </p:cNvSpPr>
          <p:nvPr/>
        </p:nvSpPr>
        <p:spPr>
          <a:xfrm>
            <a:off x="4533900" y="2152650"/>
            <a:ext cx="29146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RSI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02B20E-4569-471C-9609-DA8ECAAF347C}"/>
              </a:ext>
            </a:extLst>
          </p:cNvPr>
          <p:cNvSpPr>
            <a:spLocks noGrp="1"/>
          </p:cNvSpPr>
          <p:nvPr/>
        </p:nvSpPr>
        <p:spPr>
          <a:xfrm>
            <a:off x="4533900" y="2571750"/>
            <a:ext cx="2914650" cy="1676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속도</a:t>
            </a:r>
          </a:p>
          <a:p>
            <a:endParaRPr sz="1200" b="0">
              <a:solidFill>
                <a:srgbClr val="607087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상승 모멘텀이 살아 있는가?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과열 또는 과매도 구간인가?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CACAB53-9E01-48A1-B37A-0A164E77FB4B}"/>
              </a:ext>
            </a:extLst>
          </p:cNvPr>
          <p:cNvSpPr>
            <a:spLocks noGrp="1"/>
          </p:cNvSpPr>
          <p:nvPr/>
        </p:nvSpPr>
        <p:spPr>
          <a:xfrm>
            <a:off x="8020050" y="1562100"/>
            <a:ext cx="333375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62F07F-C747-474B-A344-3222C8261BD4}"/>
              </a:ext>
            </a:extLst>
          </p:cNvPr>
          <p:cNvSpPr>
            <a:spLocks noGrp="1"/>
          </p:cNvSpPr>
          <p:nvPr/>
        </p:nvSpPr>
        <p:spPr>
          <a:xfrm>
            <a:off x="8020050" y="1562100"/>
            <a:ext cx="66675" cy="2876550"/>
          </a:xfrm>
          <a:prstGeom prst="rect">
            <a:avLst/>
          </a:prstGeom>
          <a:solidFill>
            <a:srgbClr val="EF5B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FE0DA15-5346-4430-A42C-98FD69078866}"/>
              </a:ext>
            </a:extLst>
          </p:cNvPr>
          <p:cNvSpPr>
            <a:spLocks noGrp="1"/>
          </p:cNvSpPr>
          <p:nvPr/>
        </p:nvSpPr>
        <p:spPr>
          <a:xfrm>
            <a:off x="8229600" y="1752600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EF5B5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SIGNAL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3AC738-9449-4B02-88F6-C1B60DEA79B1}"/>
              </a:ext>
            </a:extLst>
          </p:cNvPr>
          <p:cNvSpPr>
            <a:spLocks noGrp="1"/>
          </p:cNvSpPr>
          <p:nvPr/>
        </p:nvSpPr>
        <p:spPr>
          <a:xfrm>
            <a:off x="8229600" y="2152650"/>
            <a:ext cx="29146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ADX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58CB55-0B66-4614-A39A-CDC3BBDCC21F}"/>
              </a:ext>
            </a:extLst>
          </p:cNvPr>
          <p:cNvSpPr>
            <a:spLocks noGrp="1"/>
          </p:cNvSpPr>
          <p:nvPr/>
        </p:nvSpPr>
        <p:spPr>
          <a:xfrm>
            <a:off x="8229600" y="2571750"/>
            <a:ext cx="2914650" cy="1676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추세 강도</a:t>
            </a:r>
          </a:p>
          <a:p>
            <a:endParaRPr sz="1200" b="0">
              <a:solidFill>
                <a:srgbClr val="607087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현재 움직임이 추세인가?</a:t>
            </a:r>
          </a:p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횡보장에서 신호가 흔들리는가?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D34AAE5-10B8-4C7B-9684-065A80690BA2}"/>
              </a:ext>
            </a:extLst>
          </p:cNvPr>
          <p:cNvSpPr>
            <a:spLocks noGrp="1"/>
          </p:cNvSpPr>
          <p:nvPr/>
        </p:nvSpPr>
        <p:spPr>
          <a:xfrm>
            <a:off x="628650" y="4838700"/>
            <a:ext cx="10744200" cy="800100"/>
          </a:xfrm>
          <a:prstGeom prst="roundRect">
            <a:avLst>
              <a:gd name="adj" fmla="val 9524"/>
            </a:avLst>
          </a:prstGeom>
          <a:solidFill>
            <a:srgbClr val="FDED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EDFD84-6EDE-4E26-A708-C101F526FC8D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10325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세 지표는 종목의 가치를 판단하지 않는다. 앞 단계에서 고른 종목의 매수 시점, 손절 기준, 비중 조절에 사용한다.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DC842A8-73B1-4DB4-BA43-C6A1DE429F4D}"/>
              </a:ext>
            </a:extLst>
          </p:cNvPr>
          <p:cNvSpPr>
            <a:spLocks noGrp="1"/>
          </p:cNvSpPr>
          <p:nvPr/>
        </p:nvSpPr>
        <p:spPr>
          <a:xfrm>
            <a:off x="6667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E598F8-E9E5-447D-94D1-5D7DA60D0CD1}"/>
              </a:ext>
            </a:extLst>
          </p:cNvPr>
          <p:cNvSpPr>
            <a:spLocks noGrp="1"/>
          </p:cNvSpPr>
          <p:nvPr/>
        </p:nvSpPr>
        <p:spPr>
          <a:xfrm>
            <a:off x="7048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EDD68C1-BFF0-4821-B658-0EEEE063F1BF}"/>
              </a:ext>
            </a:extLst>
          </p:cNvPr>
          <p:cNvSpPr>
            <a:spLocks noGrp="1"/>
          </p:cNvSpPr>
          <p:nvPr/>
        </p:nvSpPr>
        <p:spPr>
          <a:xfrm>
            <a:off x="29146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8C8D4C-7CF4-46DA-A28D-BBE1DB0101A1}"/>
              </a:ext>
            </a:extLst>
          </p:cNvPr>
          <p:cNvSpPr>
            <a:spLocks noGrp="1"/>
          </p:cNvSpPr>
          <p:nvPr/>
        </p:nvSpPr>
        <p:spPr>
          <a:xfrm>
            <a:off x="29527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F563238-E89D-495E-ABA2-20345B5E7075}"/>
              </a:ext>
            </a:extLst>
          </p:cNvPr>
          <p:cNvSpPr>
            <a:spLocks noGrp="1"/>
          </p:cNvSpPr>
          <p:nvPr/>
        </p:nvSpPr>
        <p:spPr>
          <a:xfrm>
            <a:off x="51625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24BED7-E689-4AFE-BF57-D075B2C74979}"/>
              </a:ext>
            </a:extLst>
          </p:cNvPr>
          <p:cNvSpPr>
            <a:spLocks noGrp="1"/>
          </p:cNvSpPr>
          <p:nvPr/>
        </p:nvSpPr>
        <p:spPr>
          <a:xfrm>
            <a:off x="52006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F043494-6AC7-4464-B09D-8226DB31D6F5}"/>
              </a:ext>
            </a:extLst>
          </p:cNvPr>
          <p:cNvSpPr>
            <a:spLocks noGrp="1"/>
          </p:cNvSpPr>
          <p:nvPr/>
        </p:nvSpPr>
        <p:spPr>
          <a:xfrm>
            <a:off x="74104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8C7703-353F-4470-8412-C5D4BF8AD4C8}"/>
              </a:ext>
            </a:extLst>
          </p:cNvPr>
          <p:cNvSpPr>
            <a:spLocks noGrp="1"/>
          </p:cNvSpPr>
          <p:nvPr/>
        </p:nvSpPr>
        <p:spPr>
          <a:xfrm>
            <a:off x="74485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C093977-6E42-4926-8AF6-5B824AD017E4}"/>
              </a:ext>
            </a:extLst>
          </p:cNvPr>
          <p:cNvSpPr>
            <a:spLocks noGrp="1"/>
          </p:cNvSpPr>
          <p:nvPr/>
        </p:nvSpPr>
        <p:spPr>
          <a:xfrm>
            <a:off x="96583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F5B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DD9E04-6529-42CF-BD77-37807BF1445B}"/>
              </a:ext>
            </a:extLst>
          </p:cNvPr>
          <p:cNvSpPr>
            <a:spLocks noGrp="1"/>
          </p:cNvSpPr>
          <p:nvPr/>
        </p:nvSpPr>
        <p:spPr>
          <a:xfrm>
            <a:off x="96964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261810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FD2DD9D2-372E-4DD1-B1BA-6B76D06DA3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EF5B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092C07-0E33-4820-A1F0-96D49663DC8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매매 규칙은 신호 조합과 위험 한도로 완성된다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21F12F-17A3-4349-B321-36E04BF8A82F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1009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예시는 강의용 규칙이며 종목 특성에 맞게 백테스트한다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9D52DD-3E25-4222-AE58-C014A6AB5759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609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380230-3FD5-41CB-8E9F-B7C10FEF1556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상태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D2C835-60BC-47F8-B011-C6F12C73951A}"/>
              </a:ext>
            </a:extLst>
          </p:cNvPr>
          <p:cNvSpPr>
            <a:spLocks noGrp="1"/>
          </p:cNvSpPr>
          <p:nvPr/>
        </p:nvSpPr>
        <p:spPr>
          <a:xfrm>
            <a:off x="2400300" y="138112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MA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6382C6-FC2C-423E-8196-798C1B0C8B6A}"/>
              </a:ext>
            </a:extLst>
          </p:cNvPr>
          <p:cNvSpPr>
            <a:spLocks noGrp="1"/>
          </p:cNvSpPr>
          <p:nvPr/>
        </p:nvSpPr>
        <p:spPr>
          <a:xfrm>
            <a:off x="5048250" y="1381125"/>
            <a:ext cx="1381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RSI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CAB185-A7F8-4567-9659-DFE8E5F5D9E0}"/>
              </a:ext>
            </a:extLst>
          </p:cNvPr>
          <p:cNvSpPr>
            <a:spLocks noGrp="1"/>
          </p:cNvSpPr>
          <p:nvPr/>
        </p:nvSpPr>
        <p:spPr>
          <a:xfrm>
            <a:off x="6686550" y="1381125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ADX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F1601D-1DB3-4C24-AFFE-2D2D9912548C}"/>
              </a:ext>
            </a:extLst>
          </p:cNvPr>
          <p:cNvSpPr>
            <a:spLocks noGrp="1"/>
          </p:cNvSpPr>
          <p:nvPr/>
        </p:nvSpPr>
        <p:spPr>
          <a:xfrm>
            <a:off x="8953500" y="1381125"/>
            <a:ext cx="2238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행동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62F559-478E-425D-B1F4-786722908076}"/>
              </a:ext>
            </a:extLst>
          </p:cNvPr>
          <p:cNvSpPr>
            <a:spLocks noGrp="1"/>
          </p:cNvSpPr>
          <p:nvPr/>
        </p:nvSpPr>
        <p:spPr>
          <a:xfrm>
            <a:off x="590550" y="1828800"/>
            <a:ext cx="10858500" cy="819150"/>
          </a:xfrm>
          <a:prstGeom prst="roundRect">
            <a:avLst>
              <a:gd name="adj" fmla="val 9302"/>
            </a:avLst>
          </a:prstGeom>
          <a:solidFill>
            <a:srgbClr val="EFF8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695F10-A0B3-459C-8AE2-43D3B67A508D}"/>
              </a:ext>
            </a:extLst>
          </p:cNvPr>
          <p:cNvSpPr>
            <a:spLocks noGrp="1"/>
          </p:cNvSpPr>
          <p:nvPr/>
        </p:nvSpPr>
        <p:spPr>
          <a:xfrm>
            <a:off x="723900" y="2066925"/>
            <a:ext cx="1238250" cy="323850"/>
          </a:xfrm>
          <a:prstGeom prst="roundRect">
            <a:avLst>
              <a:gd name="adj" fmla="val 23529"/>
            </a:avLst>
          </a:prstGeom>
          <a:solidFill>
            <a:srgbClr val="23B26D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매수 후보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6E7F46-E007-4F8E-A6FF-44EA690A3A30}"/>
              </a:ext>
            </a:extLst>
          </p:cNvPr>
          <p:cNvSpPr>
            <a:spLocks noGrp="1"/>
          </p:cNvSpPr>
          <p:nvPr/>
        </p:nvSpPr>
        <p:spPr>
          <a:xfrm>
            <a:off x="2190750" y="1943100"/>
            <a:ext cx="27146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가격 &gt; 20MA &gt; 60MA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88B1C5-388F-4926-96F0-71497BE6A695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13811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RSI 50~70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8DC4D3-412D-4F8B-A853-01304367580C}"/>
              </a:ext>
            </a:extLst>
          </p:cNvPr>
          <p:cNvSpPr>
            <a:spLocks noGrp="1"/>
          </p:cNvSpPr>
          <p:nvPr/>
        </p:nvSpPr>
        <p:spPr>
          <a:xfrm>
            <a:off x="6572250" y="1943100"/>
            <a:ext cx="2190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ADX &gt; 20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79F1C5-EC82-41A2-9AF1-5BAEC97701D9}"/>
              </a:ext>
            </a:extLst>
          </p:cNvPr>
          <p:cNvSpPr>
            <a:spLocks noGrp="1"/>
          </p:cNvSpPr>
          <p:nvPr/>
        </p:nvSpPr>
        <p:spPr>
          <a:xfrm>
            <a:off x="9048750" y="1943100"/>
            <a:ext cx="2095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분할 진입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D83C23-0284-430B-9810-97F7A8CD8280}"/>
              </a:ext>
            </a:extLst>
          </p:cNvPr>
          <p:cNvSpPr>
            <a:spLocks noGrp="1"/>
          </p:cNvSpPr>
          <p:nvPr/>
        </p:nvSpPr>
        <p:spPr>
          <a:xfrm>
            <a:off x="590550" y="2895600"/>
            <a:ext cx="10858500" cy="819150"/>
          </a:xfrm>
          <a:prstGeom prst="roundRect">
            <a:avLst>
              <a:gd name="adj" fmla="val 9302"/>
            </a:avLst>
          </a:prstGeom>
          <a:solidFill>
            <a:srgbClr val="FFF7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1DB6269-B15B-4B6C-BA97-CD117F53C6A1}"/>
              </a:ext>
            </a:extLst>
          </p:cNvPr>
          <p:cNvSpPr>
            <a:spLocks noGrp="1"/>
          </p:cNvSpPr>
          <p:nvPr/>
        </p:nvSpPr>
        <p:spPr>
          <a:xfrm>
            <a:off x="723900" y="3133725"/>
            <a:ext cx="1238250" cy="323850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관망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FB52E1-715E-45AF-90B8-E4F1588FF647}"/>
              </a:ext>
            </a:extLst>
          </p:cNvPr>
          <p:cNvSpPr>
            <a:spLocks noGrp="1"/>
          </p:cNvSpPr>
          <p:nvPr/>
        </p:nvSpPr>
        <p:spPr>
          <a:xfrm>
            <a:off x="2190750" y="3009900"/>
            <a:ext cx="27146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이동평균 혼조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A331BF-B099-4AE0-A3F7-6BF69B1064B2}"/>
              </a:ext>
            </a:extLst>
          </p:cNvPr>
          <p:cNvSpPr>
            <a:spLocks noGrp="1"/>
          </p:cNvSpPr>
          <p:nvPr/>
        </p:nvSpPr>
        <p:spPr>
          <a:xfrm>
            <a:off x="5048250" y="3009900"/>
            <a:ext cx="13811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RSI 40~60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B59E5F-FC13-442C-81AC-C4CF0E4BE3F0}"/>
              </a:ext>
            </a:extLst>
          </p:cNvPr>
          <p:cNvSpPr>
            <a:spLocks noGrp="1"/>
          </p:cNvSpPr>
          <p:nvPr/>
        </p:nvSpPr>
        <p:spPr>
          <a:xfrm>
            <a:off x="6572250" y="3009900"/>
            <a:ext cx="2190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ADX &lt; 20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664EB6-8CD4-49C2-B190-31C2E37B487E}"/>
              </a:ext>
            </a:extLst>
          </p:cNvPr>
          <p:cNvSpPr>
            <a:spLocks noGrp="1"/>
          </p:cNvSpPr>
          <p:nvPr/>
        </p:nvSpPr>
        <p:spPr>
          <a:xfrm>
            <a:off x="9048750" y="3009900"/>
            <a:ext cx="2095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추세 확인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3E0EAA0-A015-49E4-BEA1-FF270127CAC7}"/>
              </a:ext>
            </a:extLst>
          </p:cNvPr>
          <p:cNvSpPr>
            <a:spLocks noGrp="1"/>
          </p:cNvSpPr>
          <p:nvPr/>
        </p:nvSpPr>
        <p:spPr>
          <a:xfrm>
            <a:off x="590550" y="3962400"/>
            <a:ext cx="10858500" cy="819150"/>
          </a:xfrm>
          <a:prstGeom prst="roundRect">
            <a:avLst>
              <a:gd name="adj" fmla="val 9302"/>
            </a:avLst>
          </a:prstGeom>
          <a:solidFill>
            <a:srgbClr val="FDED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06E9204-149F-4286-A37D-B3305B29178A}"/>
              </a:ext>
            </a:extLst>
          </p:cNvPr>
          <p:cNvSpPr>
            <a:spLocks noGrp="1"/>
          </p:cNvSpPr>
          <p:nvPr/>
        </p:nvSpPr>
        <p:spPr>
          <a:xfrm>
            <a:off x="723900" y="4200525"/>
            <a:ext cx="1238250" cy="323850"/>
          </a:xfrm>
          <a:prstGeom prst="roundRect">
            <a:avLst>
              <a:gd name="adj" fmla="val 23529"/>
            </a:avLst>
          </a:prstGeom>
          <a:solidFill>
            <a:srgbClr val="EF5B5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축소·청산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80AE5B-A97D-469C-B6E6-009AA5B3A77E}"/>
              </a:ext>
            </a:extLst>
          </p:cNvPr>
          <p:cNvSpPr>
            <a:spLocks noGrp="1"/>
          </p:cNvSpPr>
          <p:nvPr/>
        </p:nvSpPr>
        <p:spPr>
          <a:xfrm>
            <a:off x="2190750" y="4076700"/>
            <a:ext cx="27146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가격 &lt; 20MA 또는 손절선 이탈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E61EA9-3E9C-430E-808D-B4C4D6DCB9A9}"/>
              </a:ext>
            </a:extLst>
          </p:cNvPr>
          <p:cNvSpPr>
            <a:spLocks noGrp="1"/>
          </p:cNvSpPr>
          <p:nvPr/>
        </p:nvSpPr>
        <p:spPr>
          <a:xfrm>
            <a:off x="5048250" y="4076700"/>
            <a:ext cx="13811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RSI 약화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43D993-30E9-46E7-8E91-280568909769}"/>
              </a:ext>
            </a:extLst>
          </p:cNvPr>
          <p:cNvSpPr>
            <a:spLocks noGrp="1"/>
          </p:cNvSpPr>
          <p:nvPr/>
        </p:nvSpPr>
        <p:spPr>
          <a:xfrm>
            <a:off x="6572250" y="4076700"/>
            <a:ext cx="2190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ADX 상승 중 하락추세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DC864E-5AEA-40C7-8D6C-505276EF2964}"/>
              </a:ext>
            </a:extLst>
          </p:cNvPr>
          <p:cNvSpPr>
            <a:spLocks noGrp="1"/>
          </p:cNvSpPr>
          <p:nvPr/>
        </p:nvSpPr>
        <p:spPr>
          <a:xfrm>
            <a:off x="9048750" y="4076700"/>
            <a:ext cx="2095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비중 축소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1F9D48-209D-4D71-B4E5-E9BFC798DF77}"/>
              </a:ext>
            </a:extLst>
          </p:cNvPr>
          <p:cNvSpPr>
            <a:spLocks noGrp="1"/>
          </p:cNvSpPr>
          <p:nvPr/>
        </p:nvSpPr>
        <p:spPr>
          <a:xfrm>
            <a:off x="666750" y="523875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포지션 크기 · 손절 가격 · 최대 손실액을 주문 전에 계산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99628E8-CF6B-44E1-AD5C-2806870150CD}"/>
              </a:ext>
            </a:extLst>
          </p:cNvPr>
          <p:cNvSpPr>
            <a:spLocks noGrp="1"/>
          </p:cNvSpPr>
          <p:nvPr/>
        </p:nvSpPr>
        <p:spPr>
          <a:xfrm>
            <a:off x="6667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C7ECCAD-3A8D-4462-809E-BCD6EC2F1C84}"/>
              </a:ext>
            </a:extLst>
          </p:cNvPr>
          <p:cNvSpPr>
            <a:spLocks noGrp="1"/>
          </p:cNvSpPr>
          <p:nvPr/>
        </p:nvSpPr>
        <p:spPr>
          <a:xfrm>
            <a:off x="7048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6023E58-6993-4E13-AB6E-D6522B526322}"/>
              </a:ext>
            </a:extLst>
          </p:cNvPr>
          <p:cNvSpPr>
            <a:spLocks noGrp="1"/>
          </p:cNvSpPr>
          <p:nvPr/>
        </p:nvSpPr>
        <p:spPr>
          <a:xfrm>
            <a:off x="29146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C364DD-3114-4AAD-B85A-690ABA337DA0}"/>
              </a:ext>
            </a:extLst>
          </p:cNvPr>
          <p:cNvSpPr>
            <a:spLocks noGrp="1"/>
          </p:cNvSpPr>
          <p:nvPr/>
        </p:nvSpPr>
        <p:spPr>
          <a:xfrm>
            <a:off x="29527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8D454B3-B62D-48A1-A646-4BF1D808E318}"/>
              </a:ext>
            </a:extLst>
          </p:cNvPr>
          <p:cNvSpPr>
            <a:spLocks noGrp="1"/>
          </p:cNvSpPr>
          <p:nvPr/>
        </p:nvSpPr>
        <p:spPr>
          <a:xfrm>
            <a:off x="51625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28E076-FBB1-4EE1-8E5F-2874A7AA3245}"/>
              </a:ext>
            </a:extLst>
          </p:cNvPr>
          <p:cNvSpPr>
            <a:spLocks noGrp="1"/>
          </p:cNvSpPr>
          <p:nvPr/>
        </p:nvSpPr>
        <p:spPr>
          <a:xfrm>
            <a:off x="52006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EE2C97C-D5D0-427F-9B5C-198FD7185629}"/>
              </a:ext>
            </a:extLst>
          </p:cNvPr>
          <p:cNvSpPr>
            <a:spLocks noGrp="1"/>
          </p:cNvSpPr>
          <p:nvPr/>
        </p:nvSpPr>
        <p:spPr>
          <a:xfrm>
            <a:off x="74104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8EE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7EE364-4DAE-4FF8-A67A-D3406F565415}"/>
              </a:ext>
            </a:extLst>
          </p:cNvPr>
          <p:cNvSpPr>
            <a:spLocks noGrp="1"/>
          </p:cNvSpPr>
          <p:nvPr/>
        </p:nvSpPr>
        <p:spPr>
          <a:xfrm>
            <a:off x="74485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2F09230-4A75-4CCA-B2E4-6C6DC0B946CE}"/>
              </a:ext>
            </a:extLst>
          </p:cNvPr>
          <p:cNvSpPr>
            <a:spLocks noGrp="1"/>
          </p:cNvSpPr>
          <p:nvPr/>
        </p:nvSpPr>
        <p:spPr>
          <a:xfrm>
            <a:off x="9658350" y="6067425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EF5B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CE43392-A29C-433D-B05B-52B3BD288D96}"/>
              </a:ext>
            </a:extLst>
          </p:cNvPr>
          <p:cNvSpPr>
            <a:spLocks noGrp="1"/>
          </p:cNvSpPr>
          <p:nvPr/>
        </p:nvSpPr>
        <p:spPr>
          <a:xfrm>
            <a:off x="9696450" y="6086475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458920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6C9E37EE-3421-4F05-BC75-1588A6AC0017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하나의 투자 아이디어가 주문으로 바뀌는 과정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A836F8-DD81-4CA8-8D59-984D8EA48312}"/>
              </a:ext>
            </a:extLst>
          </p:cNvPr>
          <p:cNvSpPr>
            <a:spLocks noGrp="1"/>
          </p:cNvSpPr>
          <p:nvPr/>
        </p:nvSpPr>
        <p:spPr>
          <a:xfrm>
            <a:off x="590550" y="8382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가상의 데이터센터 전력기기 종목을 예로 든 분석 기록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F627892-BE19-4C59-BDCA-26E4682958E9}"/>
              </a:ext>
            </a:extLst>
          </p:cNvPr>
          <p:cNvSpPr>
            <a:spLocks noGrp="1"/>
          </p:cNvSpPr>
          <p:nvPr/>
        </p:nvSpPr>
        <p:spPr>
          <a:xfrm>
            <a:off x="571500" y="146685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102945"/>
          </a:solidFill>
          <a:ln w="9525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E3B1B6-AAFC-4CE3-A8DE-6D4BB4C34704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419100" cy="41910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106584-DDC1-4DC5-9DD4-6B5461018D66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33656F-ADD6-42B1-9768-B8EE92254FC8}"/>
              </a:ext>
            </a:extLst>
          </p:cNvPr>
          <p:cNvSpPr>
            <a:spLocks noGrp="1"/>
          </p:cNvSpPr>
          <p:nvPr/>
        </p:nvSpPr>
        <p:spPr>
          <a:xfrm>
            <a:off x="1371600" y="1581150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Macro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D68513-F2FC-43A8-8296-0A1660244705}"/>
              </a:ext>
            </a:extLst>
          </p:cNvPr>
          <p:cNvSpPr>
            <a:spLocks noGrp="1"/>
          </p:cNvSpPr>
          <p:nvPr/>
        </p:nvSpPr>
        <p:spPr>
          <a:xfrm>
            <a:off x="3143250" y="1581150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신용과 변동성 안정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9EA2E7-781F-41C3-8F78-B968F3B88E38}"/>
              </a:ext>
            </a:extLst>
          </p:cNvPr>
          <p:cNvSpPr>
            <a:spLocks noGrp="1"/>
          </p:cNvSpPr>
          <p:nvPr/>
        </p:nvSpPr>
        <p:spPr>
          <a:xfrm>
            <a:off x="8001000" y="1581150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위험예산 70%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AFE17D-34ED-480B-A541-B53B5B0AA383}"/>
              </a:ext>
            </a:extLst>
          </p:cNvPr>
          <p:cNvSpPr>
            <a:spLocks noGrp="1"/>
          </p:cNvSpPr>
          <p:nvPr/>
        </p:nvSpPr>
        <p:spPr>
          <a:xfrm>
            <a:off x="571500" y="234315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102945"/>
          </a:solidFill>
          <a:ln w="9525">
            <a:solidFill>
              <a:srgbClr val="8B5C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B70DF0-9F3D-427E-B084-43A24F3E4C57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419100" cy="4191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791412-3C81-4009-8189-683731089AEE}"/>
              </a:ext>
            </a:extLst>
          </p:cNvPr>
          <p:cNvSpPr>
            <a:spLocks noGrp="1"/>
          </p:cNvSpPr>
          <p:nvPr/>
        </p:nvSpPr>
        <p:spPr>
          <a:xfrm>
            <a:off x="742950" y="253365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E4F149-5FA7-42A5-A2DA-96615CD671E3}"/>
              </a:ext>
            </a:extLst>
          </p:cNvPr>
          <p:cNvSpPr>
            <a:spLocks noGrp="1"/>
          </p:cNvSpPr>
          <p:nvPr/>
        </p:nvSpPr>
        <p:spPr>
          <a:xfrm>
            <a:off x="1371600" y="2457450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Sector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1B5402-D35C-4D3C-B9D0-8A2BC1E8A9BA}"/>
              </a:ext>
            </a:extLst>
          </p:cNvPr>
          <p:cNvSpPr>
            <a:spLocks noGrp="1"/>
          </p:cNvSpPr>
          <p:nvPr/>
        </p:nvSpPr>
        <p:spPr>
          <a:xfrm>
            <a:off x="3143250" y="2457450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Data Center 상대강도 1위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907D2A-FB69-427B-96BE-13E37F2E7CD6}"/>
              </a:ext>
            </a:extLst>
          </p:cNvPr>
          <p:cNvSpPr>
            <a:spLocks noGrp="1"/>
          </p:cNvSpPr>
          <p:nvPr/>
        </p:nvSpPr>
        <p:spPr>
          <a:xfrm>
            <a:off x="8001000" y="2457450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후보군 확대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F1C0DD-0AB3-4DAB-8534-4F4B607D8CC7}"/>
              </a:ext>
            </a:extLst>
          </p:cNvPr>
          <p:cNvSpPr>
            <a:spLocks noGrp="1"/>
          </p:cNvSpPr>
          <p:nvPr/>
        </p:nvSpPr>
        <p:spPr>
          <a:xfrm>
            <a:off x="571500" y="321945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102945"/>
          </a:solidFill>
          <a:ln w="9525">
            <a:solidFill>
              <a:srgbClr val="F59E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A6A8920-6ECA-46B4-B619-3DE210682892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419100" cy="4191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621EDB-CF91-4B6D-B4DB-C77AC69882FE}"/>
              </a:ext>
            </a:extLst>
          </p:cNvPr>
          <p:cNvSpPr>
            <a:spLocks noGrp="1"/>
          </p:cNvSpPr>
          <p:nvPr/>
        </p:nvSpPr>
        <p:spPr>
          <a:xfrm>
            <a:off x="742950" y="340995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29C0F5-7323-4086-9E62-2E85B44697B6}"/>
              </a:ext>
            </a:extLst>
          </p:cNvPr>
          <p:cNvSpPr>
            <a:spLocks noGrp="1"/>
          </p:cNvSpPr>
          <p:nvPr/>
        </p:nvSpPr>
        <p:spPr>
          <a:xfrm>
            <a:off x="1371600" y="3333750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Earnings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D6C5DD-D03C-41C7-8298-3FB574394E03}"/>
              </a:ext>
            </a:extLst>
          </p:cNvPr>
          <p:cNvSpPr>
            <a:spLocks noGrp="1"/>
          </p:cNvSpPr>
          <p:nvPr/>
        </p:nvSpPr>
        <p:spPr>
          <a:xfrm>
            <a:off x="3143250" y="3333750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CapEx 상향·전력 병목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BAE477-63A2-4735-B05C-ACB8198BEE01}"/>
              </a:ext>
            </a:extLst>
          </p:cNvPr>
          <p:cNvSpPr>
            <a:spLocks noGrp="1"/>
          </p:cNvSpPr>
          <p:nvPr/>
        </p:nvSpPr>
        <p:spPr>
          <a:xfrm>
            <a:off x="8001000" y="3333750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수요 확신 강화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E68F2F6-1BF6-4C56-85A3-F51914987FF9}"/>
              </a:ext>
            </a:extLst>
          </p:cNvPr>
          <p:cNvSpPr>
            <a:spLocks noGrp="1"/>
          </p:cNvSpPr>
          <p:nvPr/>
        </p:nvSpPr>
        <p:spPr>
          <a:xfrm>
            <a:off x="571500" y="409575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102945"/>
          </a:solidFill>
          <a:ln w="9525">
            <a:solidFill>
              <a:srgbClr val="23B26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EE584A2-F5DA-4C37-9576-AE368B3C8C47}"/>
              </a:ext>
            </a:extLst>
          </p:cNvPr>
          <p:cNvSpPr>
            <a:spLocks noGrp="1"/>
          </p:cNvSpPr>
          <p:nvPr/>
        </p:nvSpPr>
        <p:spPr>
          <a:xfrm>
            <a:off x="742950" y="4229100"/>
            <a:ext cx="419100" cy="419100"/>
          </a:xfrm>
          <a:prstGeom prst="ellipse">
            <a:avLst/>
          </a:prstGeom>
          <a:solidFill>
            <a:srgbClr val="23B26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932068-0D78-446F-98F4-A01599C95DDA}"/>
              </a:ext>
            </a:extLst>
          </p:cNvPr>
          <p:cNvSpPr>
            <a:spLocks noGrp="1"/>
          </p:cNvSpPr>
          <p:nvPr/>
        </p:nvSpPr>
        <p:spPr>
          <a:xfrm>
            <a:off x="742950" y="428625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CDA69F-F6D3-4094-8203-DC77EAE12D0E}"/>
              </a:ext>
            </a:extLst>
          </p:cNvPr>
          <p:cNvSpPr>
            <a:spLocks noGrp="1"/>
          </p:cNvSpPr>
          <p:nvPr/>
        </p:nvSpPr>
        <p:spPr>
          <a:xfrm>
            <a:off x="1371600" y="4210050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Stock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1F1DC4-8BBC-4316-B137-F3DEEFE7A4D5}"/>
              </a:ext>
            </a:extLst>
          </p:cNvPr>
          <p:cNvSpPr>
            <a:spLocks noGrp="1"/>
          </p:cNvSpPr>
          <p:nvPr/>
        </p:nvSpPr>
        <p:spPr>
          <a:xfrm>
            <a:off x="3143250" y="4210050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성장·마진·수주 점수 82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08F9ED-9C77-4DCC-BDDC-DD89134EC643}"/>
              </a:ext>
            </a:extLst>
          </p:cNvPr>
          <p:cNvSpPr>
            <a:spLocks noGrp="1"/>
          </p:cNvSpPr>
          <p:nvPr/>
        </p:nvSpPr>
        <p:spPr>
          <a:xfrm>
            <a:off x="8001000" y="4210050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투자 후보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9347110-E04C-4E34-A333-2D551BC669E8}"/>
              </a:ext>
            </a:extLst>
          </p:cNvPr>
          <p:cNvSpPr>
            <a:spLocks noGrp="1"/>
          </p:cNvSpPr>
          <p:nvPr/>
        </p:nvSpPr>
        <p:spPr>
          <a:xfrm>
            <a:off x="571500" y="497205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102945"/>
          </a:solidFill>
          <a:ln w="9525">
            <a:solidFill>
              <a:srgbClr val="EF5B5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2C4F286-6BEA-4D06-8C99-46B71616B9B2}"/>
              </a:ext>
            </a:extLst>
          </p:cNvPr>
          <p:cNvSpPr>
            <a:spLocks noGrp="1"/>
          </p:cNvSpPr>
          <p:nvPr/>
        </p:nvSpPr>
        <p:spPr>
          <a:xfrm>
            <a:off x="742950" y="5105400"/>
            <a:ext cx="419100" cy="419100"/>
          </a:xfrm>
          <a:prstGeom prst="ellipse">
            <a:avLst/>
          </a:prstGeom>
          <a:solidFill>
            <a:srgbClr val="EF5B5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798183-419D-40E0-986C-4E81AD8E1FF4}"/>
              </a:ext>
            </a:extLst>
          </p:cNvPr>
          <p:cNvSpPr>
            <a:spLocks noGrp="1"/>
          </p:cNvSpPr>
          <p:nvPr/>
        </p:nvSpPr>
        <p:spPr>
          <a:xfrm>
            <a:off x="742950" y="5162550"/>
            <a:ext cx="419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D7AAF5-06C2-40B8-B730-5D4A2D1814EA}"/>
              </a:ext>
            </a:extLst>
          </p:cNvPr>
          <p:cNvSpPr>
            <a:spLocks noGrp="1"/>
          </p:cNvSpPr>
          <p:nvPr/>
        </p:nvSpPr>
        <p:spPr>
          <a:xfrm>
            <a:off x="1371600" y="5086350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Trading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2137A0B-A733-413F-B1B7-BDF597D7C0C6}"/>
              </a:ext>
            </a:extLst>
          </p:cNvPr>
          <p:cNvSpPr>
            <a:spLocks noGrp="1"/>
          </p:cNvSpPr>
          <p:nvPr/>
        </p:nvSpPr>
        <p:spPr>
          <a:xfrm>
            <a:off x="3143250" y="5086350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20MA 회복·ADX 24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FC57A4E-EE03-464F-B22E-242AA650A005}"/>
              </a:ext>
            </a:extLst>
          </p:cNvPr>
          <p:cNvSpPr>
            <a:spLocks noGrp="1"/>
          </p:cNvSpPr>
          <p:nvPr/>
        </p:nvSpPr>
        <p:spPr>
          <a:xfrm>
            <a:off x="8001000" y="5086350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1차 분할 매수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5E14F0-950F-4E89-B881-607189EB8898}"/>
              </a:ext>
            </a:extLst>
          </p:cNvPr>
          <p:cNvSpPr>
            <a:spLocks noGrp="1"/>
          </p:cNvSpPr>
          <p:nvPr/>
        </p:nvSpPr>
        <p:spPr>
          <a:xfrm>
            <a:off x="571500" y="61150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ctr">
              <a:defRPr sz="1350" b="1">
                <a:solidFill>
                  <a:srgbClr val="2EC4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EC4E6"/>
                </a:solidFill>
                <a:latin typeface="Noto Sans KR"/>
                <a:ea typeface="Noto Sans KR"/>
                <a:cs typeface="Noto Sans KR"/>
              </a:rPr>
              <a:t>분석 기록이 남아야 결과보다 의사결정의 질을 개선할 수 있다</a:t>
            </a:r>
          </a:p>
        </p:txBody>
      </p:sp>
    </p:spTree>
    <p:extLst>
      <p:ext uri="{BB962C8B-B14F-4D97-AF65-F5344CB8AC3E}">
        <p14:creationId xmlns:p14="http://schemas.microsoft.com/office/powerpoint/2010/main" val="1182483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9B76254-B4CD-4F63-B6FA-3C89123B11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C4E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22ACF-EE1C-452C-8A8F-BF451E050864}"/>
              </a:ext>
            </a:extLst>
          </p:cNvPr>
          <p:cNvSpPr>
            <a:spLocks noGrp="1"/>
          </p:cNvSpPr>
          <p:nvPr/>
        </p:nvSpPr>
        <p:spPr>
          <a:xfrm>
            <a:off x="666750" y="609600"/>
            <a:ext cx="9715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다섯 프로그램, 하나의 투자 원칙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4E7236-821C-4754-9C63-00543028226E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좋은 종목도 시장환경과 매수 시점이 맞지 않으면 좋은 투자가 되기 어렵다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87A932-B064-4A64-8C60-EC0743124C90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10820400" cy="742950"/>
          </a:xfrm>
          <a:prstGeom prst="roundRect">
            <a:avLst>
              <a:gd name="adj" fmla="val 10256"/>
            </a:avLst>
          </a:prstGeom>
          <a:solidFill>
            <a:srgbClr val="102945"/>
          </a:solidFill>
          <a:ln w="9525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E5508D-A155-4C68-B570-2B4D93FFABBB}"/>
              </a:ext>
            </a:extLst>
          </p:cNvPr>
          <p:cNvSpPr>
            <a:spLocks noGrp="1"/>
          </p:cNvSpPr>
          <p:nvPr/>
        </p:nvSpPr>
        <p:spPr>
          <a:xfrm>
            <a:off x="933450" y="2400300"/>
            <a:ext cx="2095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시장환경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8F44AD-544B-4860-B48A-628AB0086626}"/>
              </a:ext>
            </a:extLst>
          </p:cNvPr>
          <p:cNvSpPr>
            <a:spLocks noGrp="1"/>
          </p:cNvSpPr>
          <p:nvPr/>
        </p:nvSpPr>
        <p:spPr>
          <a:xfrm>
            <a:off x="3219450" y="240030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감당할 위험을 정한다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A08C25-5156-4857-9208-5F4C71123E36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10820400" cy="742950"/>
          </a:xfrm>
          <a:prstGeom prst="roundRect">
            <a:avLst>
              <a:gd name="adj" fmla="val 10256"/>
            </a:avLst>
          </a:prstGeom>
          <a:solidFill>
            <a:srgbClr val="102945"/>
          </a:solidFill>
          <a:ln w="9525">
            <a:solidFill>
              <a:srgbClr val="8B5C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A6ABF-80EB-491D-859B-4683D351E4CC}"/>
              </a:ext>
            </a:extLst>
          </p:cNvPr>
          <p:cNvSpPr>
            <a:spLocks noGrp="1"/>
          </p:cNvSpPr>
          <p:nvPr/>
        </p:nvSpPr>
        <p:spPr>
          <a:xfrm>
            <a:off x="933450" y="3390900"/>
            <a:ext cx="2095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섹터·실적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03FF55-25C0-4E32-8F24-49F5375625C8}"/>
              </a:ext>
            </a:extLst>
          </p:cNvPr>
          <p:cNvSpPr>
            <a:spLocks noGrp="1"/>
          </p:cNvSpPr>
          <p:nvPr/>
        </p:nvSpPr>
        <p:spPr>
          <a:xfrm>
            <a:off x="3219450" y="339090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돈의 방향과 수요를 확인한다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48B29A-7BED-4F27-B423-F163005EDF18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10820400" cy="742950"/>
          </a:xfrm>
          <a:prstGeom prst="roundRect">
            <a:avLst>
              <a:gd name="adj" fmla="val 10256"/>
            </a:avLst>
          </a:prstGeom>
          <a:solidFill>
            <a:srgbClr val="102945"/>
          </a:solidFill>
          <a:ln w="9525">
            <a:solidFill>
              <a:srgbClr val="23B26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A1471B-AFD6-40FC-9812-F801033A867C}"/>
              </a:ext>
            </a:extLst>
          </p:cNvPr>
          <p:cNvSpPr>
            <a:spLocks noGrp="1"/>
          </p:cNvSpPr>
          <p:nvPr/>
        </p:nvSpPr>
        <p:spPr>
          <a:xfrm>
            <a:off x="933450" y="4381500"/>
            <a:ext cx="2095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종목·타이밍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DC3ABA-EBB9-4A36-8FEA-03EE73522C8B}"/>
              </a:ext>
            </a:extLst>
          </p:cNvPr>
          <p:cNvSpPr>
            <a:spLocks noGrp="1"/>
          </p:cNvSpPr>
          <p:nvPr/>
        </p:nvSpPr>
        <p:spPr>
          <a:xfrm>
            <a:off x="3219450" y="438150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품질과 가격 행동을 연결한다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C73C8E4-1BB3-43E0-AC21-DCFAA5D9D3EE}"/>
              </a:ext>
            </a:extLst>
          </p:cNvPr>
          <p:cNvSpPr>
            <a:spLocks noGrp="1"/>
          </p:cNvSpPr>
          <p:nvPr/>
        </p:nvSpPr>
        <p:spPr>
          <a:xfrm>
            <a:off x="685800" y="5581650"/>
            <a:ext cx="10820400" cy="514350"/>
          </a:xfrm>
          <a:prstGeom prst="roundRect">
            <a:avLst>
              <a:gd name="adj" fmla="val 14815"/>
            </a:avLst>
          </a:prstGeom>
          <a:solidFill>
            <a:srgbClr val="2EC4E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7BF948-B98B-478B-A4E2-49CCEF30F812}"/>
              </a:ext>
            </a:extLst>
          </p:cNvPr>
          <p:cNvSpPr>
            <a:spLocks noGrp="1"/>
          </p:cNvSpPr>
          <p:nvPr/>
        </p:nvSpPr>
        <p:spPr>
          <a:xfrm>
            <a:off x="838200" y="5648325"/>
            <a:ext cx="10525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Macro   Sector   Earnings   Stock   Trading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DAB7DF-F22D-4BB0-B13C-379FB0EF9469}"/>
              </a:ext>
            </a:extLst>
          </p:cNvPr>
          <p:cNvSpPr>
            <a:spLocks noGrp="1"/>
          </p:cNvSpPr>
          <p:nvPr/>
        </p:nvSpPr>
        <p:spPr>
          <a:xfrm>
            <a:off x="685800" y="6257925"/>
            <a:ext cx="108204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ctr">
              <a:defRPr sz="975" b="0">
                <a:solidFill>
                  <a:srgbClr val="8FA9C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8FA9C0"/>
                </a:solidFill>
                <a:latin typeface="Noto Sans KR"/>
                <a:ea typeface="Noto Sans KR"/>
                <a:cs typeface="Noto Sans KR"/>
              </a:rPr>
              <a:t>투자 판단은 확률이며, 손실 한도와 분산 원칙이 항상 우선한다</a:t>
            </a:r>
          </a:p>
        </p:txBody>
      </p:sp>
    </p:spTree>
    <p:extLst>
      <p:ext uri="{BB962C8B-B14F-4D97-AF65-F5344CB8AC3E}">
        <p14:creationId xmlns:p14="http://schemas.microsoft.com/office/powerpoint/2010/main" val="73320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1180</Words>
  <Application>Microsoft Office PowerPoint</Application>
  <DocSecurity>0</DocSecurity>
  <PresentationFormat>Widescreen</PresentationFormat>
  <Paragraphs>353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Noto Sans KR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HR Yu</cp:lastModifiedBy>
  <cp:revision>4</cp:revision>
  <dcterms:created xsi:type="dcterms:W3CDTF">2026-09-12T06:03:43Z</dcterms:created>
  <dcterms:modified xsi:type="dcterms:W3CDTF">2026-09-12T07:27:33Z</dcterms:modified>
</cp:coreProperties>
</file>